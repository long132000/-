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42" r:id="rId5"/>
    <p:sldId id="359" r:id="rId6"/>
    <p:sldId id="373" r:id="rId7"/>
    <p:sldId id="374" r:id="rId8"/>
    <p:sldId id="396" r:id="rId9"/>
    <p:sldId id="397" r:id="rId10"/>
    <p:sldId id="398" r:id="rId11"/>
    <p:sldId id="375" r:id="rId12"/>
    <p:sldId id="399" r:id="rId13"/>
    <p:sldId id="383" r:id="rId14"/>
    <p:sldId id="365" r:id="rId15"/>
    <p:sldId id="384" r:id="rId16"/>
    <p:sldId id="376" r:id="rId17"/>
    <p:sldId id="377" r:id="rId18"/>
    <p:sldId id="378" r:id="rId19"/>
    <p:sldId id="387" r:id="rId20"/>
    <p:sldId id="379" r:id="rId21"/>
    <p:sldId id="380" r:id="rId22"/>
    <p:sldId id="388" r:id="rId23"/>
    <p:sldId id="389" r:id="rId24"/>
    <p:sldId id="390" r:id="rId25"/>
    <p:sldId id="391" r:id="rId26"/>
    <p:sldId id="392" r:id="rId27"/>
    <p:sldId id="394" r:id="rId28"/>
    <p:sldId id="395" r:id="rId2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DFF5"/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3" autoAdjust="0"/>
    <p:restoredTop sz="95388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39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394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BD9F0D7B-CC30-49B2-84DF-4EF2AF81DB57}" type="datetime1">
              <a:rPr lang="ru-RU" smtClean="0"/>
              <a:t>22.04.2024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9E9D61A1-75D9-49F7-83EB-F5872642613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2FB9301F-F85E-4923-A4E4-7DB1529AA245}" type="datetime1">
              <a:rPr lang="ru-RU" smtClean="0"/>
              <a:pPr/>
              <a:t>22.04.2024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EF75CB5-5666-5049-9AE0-38EFD385C21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DEF75CB5-5666-5049-9AE0-38EFD385C21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DEF75CB5-5666-5049-9AE0-38EFD385C21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11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Объект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Графический объект 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ru-RU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ru-RU" sz="32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ru-RU" sz="24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ru-RU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2 столбц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Графический объект 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3" name="Графический объект 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Графический объект 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7" name="Графический объект 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ru-RU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Рисунок 5" descr="Сине-лиловая спираль&#10;&#10;Автоматически созданное описание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Графический объект 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2" name="Графический объект 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3" name="Графический объект 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Графический объект 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0" name="Графический объект 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21" name="Объект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Графический объект 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Графический объект 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Графический объект 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ru-RU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ru-RU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ru-RU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2" name="Заполнитель таблицы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ru-RU" sz="2400">
                <a:latin typeface="+mn-lt"/>
              </a:defRPr>
            </a:lvl1pPr>
          </a:lstStyle>
          <a:p>
            <a:pPr rtl="0"/>
            <a:r>
              <a:rPr lang="ru-RU"/>
              <a:t>Щелкните значок, чтобы добавить таблицу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Заполнитель таблицы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ru-RU" sz="2400">
                <a:latin typeface="+mn-lt"/>
              </a:defRPr>
            </a:lvl1pPr>
          </a:lstStyle>
          <a:p>
            <a:pPr rtl="0"/>
            <a:r>
              <a:rPr lang="ru-RU"/>
              <a:t>Щелкните значок, чтобы добавить таблицу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18" name="Графический объект 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pic>
          <p:nvPicPr>
            <p:cNvPr id="4" name="Объект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ru-RU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ru-RU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69783" y="163632"/>
            <a:ext cx="11966608" cy="4235114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науки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Российской федерации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Санкт-Петербургский политехнический университет Петра Великого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(ФГАОУ ВО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СПбПУ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среднего профессионального образования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>
          <a:xfrm>
            <a:off x="6853188" y="5457610"/>
            <a:ext cx="5242560" cy="1798864"/>
          </a:xfrm>
        </p:spPr>
        <p:txBody>
          <a:bodyPr/>
          <a:lstStyle/>
          <a:p>
            <a:pPr algn="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студент группы 22919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/21</a:t>
            </a:r>
            <a:b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Бреусов Денис Романович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749856" y="474730"/>
            <a:ext cx="3672253" cy="1135548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</a:p>
        </p:txBody>
      </p:sp>
      <p:sp>
        <p:nvSpPr>
          <p:cNvPr id="10" name="Объект 9"/>
          <p:cNvSpPr txBox="1">
            <a:spLocks noGrp="1"/>
          </p:cNvSpPr>
          <p:nvPr>
            <p:ph sz="quarter" idx="10"/>
          </p:nvPr>
        </p:nvSpPr>
        <p:spPr>
          <a:xfrm>
            <a:off x="222318" y="2610692"/>
            <a:ext cx="6160898" cy="3888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принципы программирования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данных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Управляющие конструкции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файлами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ООП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и модули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различных областях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F0C74-2B63-4E29-9D15-510003FCD93F}"/>
              </a:ext>
            </a:extLst>
          </p:cNvPr>
          <p:cNvSpPr txBox="1"/>
          <p:nvPr/>
        </p:nvSpPr>
        <p:spPr>
          <a:xfrm>
            <a:off x="770381" y="1956268"/>
            <a:ext cx="4337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 в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1780987" y="703384"/>
            <a:ext cx="7918183" cy="1100643"/>
          </a:xfrm>
          <a:noFill/>
        </p:spPr>
        <p:txBody>
          <a:bodyPr>
            <a:normAutofit/>
          </a:bodyPr>
          <a:lstStyle/>
          <a:p>
            <a:r>
              <a:rPr lang="ru-RU" dirty="0">
                <a:solidFill>
                  <a:srgbClr val="1CDF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br>
              <a:rPr lang="ru-RU" dirty="0"/>
            </a:b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A8FC3-61F6-42A8-977D-F481CDAAE1BB}"/>
              </a:ext>
            </a:extLst>
          </p:cNvPr>
          <p:cNvSpPr txBox="1"/>
          <p:nvPr/>
        </p:nvSpPr>
        <p:spPr>
          <a:xfrm>
            <a:off x="2375096" y="2203179"/>
            <a:ext cx="67299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 является одним из самых востребованных навыков в современном мире. Python – один из наиболее популярных и простых в обучении языков программирования. Благодаря своей простоте и мощности, Python применяется в различных областях, от веб-разработки до анализа данных.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79" y="197758"/>
            <a:ext cx="6082392" cy="199027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принципы программирования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 descr="Сине-лиловые спирали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448596-EDA1-4C79-B369-BA8D23FD133B}"/>
              </a:ext>
            </a:extLst>
          </p:cNvPr>
          <p:cNvSpPr txBox="1"/>
          <p:nvPr/>
        </p:nvSpPr>
        <p:spPr>
          <a:xfrm>
            <a:off x="73479" y="2536581"/>
            <a:ext cx="52138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отличается простым и понятным синтаксисом, что делает его идеальным выбором для новичков. В этой части презентации мы рассмотрим основные принципы программирования в Python и примеры их применения.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445693" y="474082"/>
            <a:ext cx="11075475" cy="1096428"/>
          </a:xfrm>
        </p:spPr>
        <p:txBody>
          <a:bodyPr/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принципы программирования 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примеры их применения</a:t>
            </a:r>
          </a:p>
          <a:p>
            <a:endParaRPr lang="ru-R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1330779" y="1853293"/>
            <a:ext cx="3747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31855" y="1589905"/>
            <a:ext cx="6096000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Читаемость кода: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ставит акцент на удобочитаемом коде, что упрощает его понимание другими разработчиками и облегчает совместную работу над проектами.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31855" y="277662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Принцип DRY (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Don't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Yourself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Стремление к избеганию дублирования кода, что уменьшает вероятность ошибок и облегчает изменение логики программы.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731855" y="402396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Использование функций и модулей: Разделение кода на небольшие функции и модули позволяет облегчить его понимание, повторное использование и тестирование.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549242" y="1570510"/>
            <a:ext cx="31078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calculate_area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(radius):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3.14 * radius ** 2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7546731" y="2717500"/>
            <a:ext cx="39134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greet(name):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f"Hello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{name}!"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print(greet("Alice"))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print(greet("Bob"))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7549243" y="4023965"/>
            <a:ext cx="41175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math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calculate_circle_area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(radius):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math.pi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radius ** 2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31855" y="52352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Принцип KISS (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Stupid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Стремление к простоте решения задачи, избегая излишней сложности и упрощая код.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7549243" y="5235201"/>
            <a:ext cx="39719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2, 3, 4, 5]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sum_of_numbers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sum(numbers)</a:t>
            </a:r>
          </a:p>
        </p:txBody>
      </p:sp>
    </p:spTree>
    <p:extLst>
      <p:ext uri="{BB962C8B-B14F-4D97-AF65-F5344CB8AC3E}">
        <p14:creationId xmlns:p14="http://schemas.microsoft.com/office/powerpoint/2010/main" val="30227722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330779" y="1853293"/>
            <a:ext cx="3747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31371" y="55773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Принцип YAGNI (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Ain't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Gonna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Избегание написания кода, который пока не требуется и может быть добавлен в будущем, чтобы не усложнять программу без необходимости.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033532" y="557739"/>
            <a:ext cx="53993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# Не используется в текущей версии программы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unused_function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31371" y="191043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Использование генераторов и списковых включений: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предоставляет удобные средства для создания списков, словарей и других коллекций с помощью генераторов и списковых включений.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063468" y="1909244"/>
            <a:ext cx="43243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2, 3, 4, 5]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squared_numbers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** 2 for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numbers]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31371" y="334353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Обработка исключений: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обработку исключений, что позволяет предотвращать падение программы из-за ошибок и управлять ошибочными ситуациями.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063468" y="3343539"/>
            <a:ext cx="426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try: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result = 10 / 0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except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ZeroDivisionError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result = "Error: division by zero"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631371" y="472730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Написание тестов: Тестирование кода позволяет обеспечить его корректность и устойчивость к изменениям, а также дает уверенность в его работоспособности.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7033532" y="4727300"/>
            <a:ext cx="523466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import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unittest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add(a, b):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a + b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class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TestAdd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unittest.TestCase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test_addition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(self):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self.assertEqual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(add(1, 2), 3)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32062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s://skillbox.ru/upload/setka_images/16045016092022_278cadb5c5a600fd354bbb4a32acf34407bf98f0.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805" y="456304"/>
            <a:ext cx="6477166" cy="594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6831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данных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412117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Одним из основных принципов программирования является работа с различными типами данных.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различные типы данных, такие как числа, строки, списки, кортежи и словари. Рассмотрим каждый из них подробнее.</a:t>
            </a:r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DD800CD-691F-445B-9AD9-7A52FA697EA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0575" y="928687"/>
            <a:ext cx="1061085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5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922565" y="885794"/>
            <a:ext cx="10384970" cy="48013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lvl="0"/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Числовые типы данных: -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(целые числа): представляют 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целочи1. Числовые типы данных: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(целые числа): представляют целочисленные значения, например: 5, -10, 1000.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(вещественные числа): представляют числа с плавающей запятой, например: 3.14, -0.5, 2.0.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(комплексные числа): представляют число в виде a +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где a и b - действительные числа, j - мнимая единица. Пример: 2 + 3j.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Строковые типы данных: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(строки): представляют последовательность символов, заключенных в кавычки. Пример: "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!", 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Логический тип данных: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(логические значения): представляют логические истины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и ложи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Списки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упорядоченные изменяемые коллекции объектов. Элементы списка могут быть различных типов данных и доступ к ним осуществляется по индексу.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Пример: [1, 2, 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Roboto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22565" y="885794"/>
            <a:ext cx="1071698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Кортежи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tuples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упорядоченные неизменяемые коллекции объектов. Элементы кортежа могут быть различных типов данных и доступ к ним осуществляется по индексу.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Пример: (1, 2, 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banana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Множества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неупорядоченные изменяемые коллекции уникальных объектов. Множества поддерживают математические операции над множествами, такие как объединение, пересечение и разность.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Пример: {1, 2, 3}.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Словари (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dictionaries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неупорядоченные изменяемые коллекции объектов, каждый из которых имеет ключ и соответствующее значение. Доступ к элементам словаря осуществляется по ключу.</a:t>
            </a: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Пример: {'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30}.</a:t>
            </a:r>
          </a:p>
          <a:p>
            <a:pPr lvl="0"/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ru-RU" alt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тип данных: используется для представления отсутствующего значения или отсутствия результата выполнения операции.</a:t>
            </a:r>
            <a:endParaRPr lang="ru-RU" alt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0194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498" y="845948"/>
            <a:ext cx="7776702" cy="1450104"/>
          </a:xfrm>
        </p:spPr>
        <p:txBody>
          <a:bodyPr rtlCol="0" anchor="b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Управляющие конструкции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BE20BB-233A-498F-8AA6-5E6C768AF94E}"/>
              </a:ext>
            </a:extLst>
          </p:cNvPr>
          <p:cNvSpPr txBox="1"/>
          <p:nvPr/>
        </p:nvSpPr>
        <p:spPr>
          <a:xfrm>
            <a:off x="3297115" y="2954517"/>
            <a:ext cx="485335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Управляющие конструкции в Python позволяют управлять потоком выполнения программы. Мы рассмотрим условные конструкции, циклы и операторы присваивания в Python.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58681" y="261551"/>
            <a:ext cx="3400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Условные конструкции в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73760" y="785812"/>
            <a:ext cx="27574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if statement 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if):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58681" y="1281143"/>
            <a:ext cx="2438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условие: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блок_действий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другое_условие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блок_действий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блок_действий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50258" y="3370381"/>
            <a:ext cx="2513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Тернарный оператор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22742" y="3886083"/>
            <a:ext cx="39672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= выражение1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условие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выражение2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4181057" y="261551"/>
            <a:ext cx="20546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Циклы в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Python: 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4181057" y="788618"/>
            <a:ext cx="156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Цикл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150737" y="1281142"/>
            <a:ext cx="28139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блок_действий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181057" y="2165001"/>
            <a:ext cx="1376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Цикл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4124466" y="2758470"/>
            <a:ext cx="24651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элемент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последовательность: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блок_действий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6874887" y="261551"/>
            <a:ext cx="3632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Операторы присваивания в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6874887" y="785812"/>
            <a:ext cx="43243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Оператор присваивания (=): присваивает значение справа переменной слева. Например: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5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6874887" y="1927473"/>
            <a:ext cx="543455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Расширенный оператор присваивания: выполняет операцию и присваивает результат переменной. +=: сложение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-=: вычитание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*=: умножение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/=: деление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%=: остаток от деления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//=: целочисленное деление и присваивание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**=: возведение в степень и присваивание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+= 5  # эквивалентно x = x + 5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6874887" y="4632847"/>
            <a:ext cx="406759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Операторы сравнения: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==: равно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!=: не равно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&lt;: меньше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&gt;: больше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&lt;=: меньше или равно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&gt;=: больше или равно</a:t>
            </a:r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4043913" y="521045"/>
            <a:ext cx="0" cy="5943599"/>
          </a:xfrm>
          <a:prstGeom prst="line">
            <a:avLst/>
          </a:prstGeom>
          <a:ln>
            <a:solidFill>
              <a:srgbClr val="1CD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6589662" y="546399"/>
            <a:ext cx="0" cy="5943599"/>
          </a:xfrm>
          <a:prstGeom prst="line">
            <a:avLst/>
          </a:prstGeom>
          <a:ln>
            <a:solidFill>
              <a:srgbClr val="1CD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0777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4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801501" y="2294164"/>
            <a:ext cx="3464463" cy="168897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позволяют создавать модульный и структурированный код. </a:t>
            </a:r>
            <a:endParaRPr lang="ru-RU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964" y="2341109"/>
            <a:ext cx="65913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739" y="4620988"/>
            <a:ext cx="95345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файлами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474816" cy="3388254"/>
          </a:xfrm>
        </p:spPr>
        <p:txBody>
          <a:bodyPr rtlCol="0"/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легко работать с файлами на компьютере. </a:t>
            </a:r>
          </a:p>
        </p:txBody>
      </p:sp>
      <p:pic>
        <p:nvPicPr>
          <p:cNvPr id="5124" name="Picture 4" descr="https://static.tildacdn.com/tild3065-6536-4138-a334-366134376233/Smartiqa_Python_Work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550" y="1420811"/>
            <a:ext cx="7315200" cy="50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ООП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Сине-лиловая спираль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6" y="3104277"/>
            <a:ext cx="4601919" cy="302220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Объектно-ориентированное программирование (ООП) – это подход к программированию, основанный на создании объектов, которые имеют свои атрибуты и методы. </a:t>
            </a:r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avatars.dzeninfra.ru/get-zen_doc/1637352/pub_62d3b8f6ac1f664e51d629fb_62d3b94f73d68b4415d0e277/scale_12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990" y="865639"/>
            <a:ext cx="7315200" cy="50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s://avatars.dzeninfra.ru/get-zen_doc/3524532/pub_62d3b8f6ac1f664e51d629fb_62d3b94e996e500f07ea0f2d/scale_12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990" y="783994"/>
            <a:ext cx="7315200" cy="50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https://avatars.dzeninfra.ru/get-zen_doc/5231727/pub_62d3b8f6ac1f664e51d629fb_62d3b94e9f801562d75fc520/scale_120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782" y="588054"/>
            <a:ext cx="7315200" cy="50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54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и модули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572022" cy="343662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имеет огромное количество библиотек и модулей, которые позволяют расширить его функциональность. Мы рассмотрим некоторые популярные библиотеки и модули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их применение.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835173862"/>
              </p:ext>
            </p:extLst>
          </p:nvPr>
        </p:nvGraphicFramePr>
        <p:xfrm>
          <a:off x="5045218" y="637540"/>
          <a:ext cx="6705600" cy="55829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Библиотека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NumPy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работы с массивами и матрицами, предоставляет функциональность для выполнения математических операций и работы с линейной алгеброй.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Pandas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обработки и анализа данных, предоставляет структуры данных (например,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DataFrame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и методы для работы с ними.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Matplotlib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создания графиков и визуализации данных, позволяет строить различные типы графиков (линейные, столбчатые, круговые и т.д.).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1994994"/>
              </p:ext>
            </p:extLst>
          </p:nvPr>
        </p:nvGraphicFramePr>
        <p:xfrm>
          <a:off x="5045218" y="637540"/>
          <a:ext cx="6705600" cy="57658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Библиотека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Scikit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-learn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машинного обучения и анализа данных, содержит множество алгоритмов машинного обучения (например, классификация, регрессия, кластеризация) и инструменты для предобработки данных. </a:t>
                      </a:r>
                      <a:b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TensorFlow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PyTorch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обработки и анализа данных, предоставляет структуры данных (например,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DataFrame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и методы для работы с ними. библиотеки для глубокого обучения и искусственного интеллекта, предоставляют инструменты для построения и обучения нейронных сетей.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619409"/>
              </p:ext>
            </p:extLst>
          </p:nvPr>
        </p:nvGraphicFramePr>
        <p:xfrm>
          <a:off x="5045218" y="637540"/>
          <a:ext cx="6705600" cy="44856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Библиотека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Requests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модуль для выполнения HTTP-запросов, позволяет отправлять запросы на сервер и получать ответы, часто используется для работы с API.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Django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Flask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фреймворки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для веб-разработки на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предоставляют инструменты для создания веб-приложений, веб-сервисов и API.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Beautiful Soup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парсинга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HTML и XML документов, используется для извлечения данных с веб-страниц.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7070780"/>
              </p:ext>
            </p:extLst>
          </p:nvPr>
        </p:nvGraphicFramePr>
        <p:xfrm>
          <a:off x="5045218" y="658967"/>
          <a:ext cx="6705600" cy="3022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Библиотека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OpenCV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 для компьютерного зрения, предоставляет инструменты для обработки изображений и видео.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SQLite3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модуль для работы с базами данных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SQLite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в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позволяет выполнять SQL-запросы и работать с базами данных.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различных областях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1" y="2465535"/>
            <a:ext cx="8303321" cy="385042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широко применяется в различных областях, таких как веб-разработка, анализ данных, машинное обучение, автоматизация и другие. Мы рассмотрим примеры использования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различных областях и его преимущества.</a:t>
            </a:r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Веб-разработка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85042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широко используется для создания веб-приложений и сайтов. Фреймворки, такие как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делают разработку веб-приложений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быстрой и удобной. </a:t>
            </a:r>
            <a:br>
              <a:rPr lang="ru-RU" dirty="0"/>
            </a:br>
            <a:endParaRPr lang="ru-RU" dirty="0"/>
          </a:p>
        </p:txBody>
      </p:sp>
      <p:pic>
        <p:nvPicPr>
          <p:cNvPr id="7170" name="Picture 2" descr="https://almazajans.com/wp-content/uploads/2020/09/SEO-Uyumlu-Kurumsal-Web-Tasarim-980x55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268" y="3762843"/>
            <a:ext cx="5298168" cy="297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2486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1" y="2465535"/>
            <a:ext cx="9033083" cy="330221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предоставляет богатый набор инструментов для анализа данных. Библиотеки, такие как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делают обработку и визуализацию данных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удобной и эффективной.</a:t>
            </a:r>
          </a:p>
        </p:txBody>
      </p:sp>
      <p:pic>
        <p:nvPicPr>
          <p:cNvPr id="8194" name="Picture 2" descr="https://avatars.mds.yandex.net/i?id=d81083c4fff0ec51aa08d09cf2624422_l-5495450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731" y="3813637"/>
            <a:ext cx="4288763" cy="289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8680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Машинное обучение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8777" y="2465535"/>
            <a:ext cx="8638653" cy="346927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одним из самых популярных языков программирования для разработки алгоритмов машинного обучения. Библиотеки, такие как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позволяют создавать и обучать модели машинного обучения.</a:t>
            </a:r>
          </a:p>
        </p:txBody>
      </p:sp>
      <p:pic>
        <p:nvPicPr>
          <p:cNvPr id="9218" name="Picture 2" descr="https://2020about.com/wp-content/uploads/2020/11/machine_learning_199085055-scaled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685" y="3815862"/>
            <a:ext cx="4487408" cy="288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5331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1" y="2465535"/>
            <a:ext cx="8356075" cy="351323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часто используется для автоматизации повседневных задач на компьютере. С помощью библиотеки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PyAutoGUI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можно создавать скрипты для автоматизации рутинных действий.</a:t>
            </a:r>
          </a:p>
        </p:txBody>
      </p:sp>
      <p:pic>
        <p:nvPicPr>
          <p:cNvPr id="10242" name="Picture 2" descr="https://pixy.org/src/10/1046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110" y="3701561"/>
            <a:ext cx="4262053" cy="300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9500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индустрия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1" y="2465535"/>
            <a:ext cx="8364867" cy="363632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широко применяется в игровой индустрии для создания игр и игровых движков. Библиотека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создавать игры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AutoShape 2" descr="https://news-sp.ru/uploads/posts/2019-09/igry-na-blokcheyne-sleduyuschaya-stupen-v-evolyucii-videoigr_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https://news-sp.ru/uploads/posts/2019-09/igry-na-blokcheyne-sleduyuschaya-stupen-v-evolyucii-videoigr_1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https://news-sp.ru/uploads/posts/2019-09/igry-na-blokcheyne-sleduyuschaya-stupen-v-evolyucii-videoigr_1.jp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272" name="Picture 8" descr="https://avatars.dzeninfra.ru/get-zen_doc/9712766/pub_6460f99e2ec0745599a48962_6461033ac4e39a372a01404a/scale_12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531" y="3543751"/>
            <a:ext cx="4606558" cy="310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7042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831849" y="3079120"/>
            <a:ext cx="8320943" cy="2943612"/>
          </a:xfrm>
        </p:spPr>
        <p:txBody>
          <a:bodyPr/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мощный и универсальный язык программирования, который подходит как для начинающих, так и для опытных разработчиков. Он позволяет создавать качественные и эффективные программы в различных областях. Развитие навыков программирования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открывает множество возможностей и делает возможным решение разнообразных задач. Изучение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не только шаг к освоению новой технологии, но и возможность расширить свои профессиональные горизонты.</a:t>
            </a:r>
          </a:p>
        </p:txBody>
      </p:sp>
    </p:spTree>
    <p:extLst>
      <p:ext uri="{BB962C8B-B14F-4D97-AF65-F5344CB8AC3E}">
        <p14:creationId xmlns:p14="http://schemas.microsoft.com/office/powerpoint/2010/main" val="3123605591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31"/>
          </p:nvPr>
        </p:nvSpPr>
        <p:spPr>
          <a:xfrm>
            <a:off x="3305669" y="2488365"/>
            <a:ext cx="7283410" cy="2779486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"Python Crash Course" by Eric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Matthes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"Automate the Boring Stuff with Python" by 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Sweigart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"Python Programming: An Introduction to Computer Science" by John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Zelle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"Fluent Python" by Luciano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Ramalho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64418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Пользовательская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1776</Words>
  <Application>Microsoft Office PowerPoint</Application>
  <PresentationFormat>Широкоэкранный</PresentationFormat>
  <Paragraphs>189</Paragraphs>
  <Slides>25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Arial</vt:lpstr>
      <vt:lpstr>Arial Nova</vt:lpstr>
      <vt:lpstr>Biome</vt:lpstr>
      <vt:lpstr>Calibri</vt:lpstr>
      <vt:lpstr>Roboto</vt:lpstr>
      <vt:lpstr>Times New Roman</vt:lpstr>
      <vt:lpstr>Пользовательская</vt:lpstr>
      <vt:lpstr>Презентация PowerPoint</vt:lpstr>
      <vt:lpstr>Содержание</vt:lpstr>
      <vt:lpstr>Введение </vt:lpstr>
      <vt:lpstr>Презентация PowerPoint</vt:lpstr>
      <vt:lpstr>Презентация PowerPoint</vt:lpstr>
      <vt:lpstr>Презентация PowerPoint</vt:lpstr>
      <vt:lpstr>Презентация PowerPoint</vt:lpstr>
      <vt:lpstr>Основные типы данных в Python</vt:lpstr>
      <vt:lpstr>Презентация PowerPoint</vt:lpstr>
      <vt:lpstr>Презентация PowerPoint</vt:lpstr>
      <vt:lpstr>Управляющие конструкции в Python</vt:lpstr>
      <vt:lpstr>Презентация PowerPoint</vt:lpstr>
      <vt:lpstr>Функции в Python</vt:lpstr>
      <vt:lpstr>Работа с файлами в Python </vt:lpstr>
      <vt:lpstr>ООП в Python</vt:lpstr>
      <vt:lpstr>Презентация PowerPoint</vt:lpstr>
      <vt:lpstr>Библиотеки и модули в Python</vt:lpstr>
      <vt:lpstr>Применение Python в различных областях</vt:lpstr>
      <vt:lpstr>Веб-разработка</vt:lpstr>
      <vt:lpstr>Анализ данных</vt:lpstr>
      <vt:lpstr>Машинное обучение</vt:lpstr>
      <vt:lpstr>Автоматизация задач</vt:lpstr>
      <vt:lpstr>Игровая индустрия</vt:lpstr>
      <vt:lpstr>Заключение</vt:lpstr>
      <vt:lpstr>Литература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БАЗОВАЯ</dc:title>
  <dc:creator>Zero Admin</dc:creator>
  <cp:lastModifiedBy>2291921-5</cp:lastModifiedBy>
  <cp:revision>33</cp:revision>
  <dcterms:created xsi:type="dcterms:W3CDTF">2024-04-21T13:11:11Z</dcterms:created>
  <dcterms:modified xsi:type="dcterms:W3CDTF">2024-04-22T08:43:09Z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