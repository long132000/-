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8"/>
  </p:notesMasterIdLst>
  <p:sldIdLst>
    <p:sldId id="25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75" r:id="rId16"/>
    <p:sldId id="281" r:id="rId17"/>
  </p:sldIdLst>
  <p:sldSz cx="12192000" cy="6858000"/>
  <p:notesSz cx="12192000" cy="6858000"/>
  <p:embeddedFontLst>
    <p:embeddedFont>
      <p:font typeface="Onest SemiBold" panose="020B0604020202020204" charset="0"/>
      <p:bold r:id="rId19"/>
    </p:embeddedFont>
    <p:embeddedFont>
      <p:font typeface="Onest Regular" panose="020B0604020202020204" charset="-52"/>
      <p:regular r:id="rId20"/>
    </p:embeddedFont>
    <p:embeddedFont>
      <p:font typeface="Onest Bold" panose="020B0604020202020204" charset="-52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78">
          <p15:clr>
            <a:srgbClr val="A4A3A4"/>
          </p15:clr>
        </p15:guide>
        <p15:guide id="2" pos="1323">
          <p15:clr>
            <a:srgbClr val="A4A3A4"/>
          </p15:clr>
        </p15:guide>
        <p15:guide id="3" pos="279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4042">
          <p15:clr>
            <a:srgbClr val="A4A3A4"/>
          </p15:clr>
        </p15:guide>
        <p15:guide id="6" pos="892">
          <p15:clr>
            <a:srgbClr val="A4A3A4"/>
          </p15:clr>
        </p15:guide>
        <p15:guide id="7" pos="733">
          <p15:clr>
            <a:srgbClr val="A4A3A4"/>
          </p15:clr>
        </p15:guide>
        <p15:guide id="8" pos="2547">
          <p15:clr>
            <a:srgbClr val="A4A3A4"/>
          </p15:clr>
        </p15:guide>
        <p15:guide id="9" pos="2094">
          <p15:clr>
            <a:srgbClr val="A4A3A4"/>
          </p15:clr>
        </p15:guide>
        <p15:guide id="10" pos="2706">
          <p15:clr>
            <a:srgbClr val="A4A3A4"/>
          </p15:clr>
        </p15:guide>
        <p15:guide id="11" pos="3160">
          <p15:clr>
            <a:srgbClr val="A4A3A4"/>
          </p15:clr>
        </p15:guide>
        <p15:guide id="12" pos="3318">
          <p15:clr>
            <a:srgbClr val="A4A3A4"/>
          </p15:clr>
        </p15:guide>
        <p15:guide id="13" pos="1504">
          <p15:clr>
            <a:srgbClr val="A4A3A4"/>
          </p15:clr>
        </p15:guide>
        <p15:guide id="14" pos="1935">
          <p15:clr>
            <a:srgbClr val="A4A3A4"/>
          </p15:clr>
        </p15:guide>
        <p15:guide id="15" orient="horz" pos="663">
          <p15:clr>
            <a:srgbClr val="A4A3A4"/>
          </p15:clr>
        </p15:guide>
        <p15:guide id="16" pos="4362">
          <p15:clr>
            <a:srgbClr val="A4A3A4"/>
          </p15:clr>
        </p15:guide>
        <p15:guide id="17" pos="3931">
          <p15:clr>
            <a:srgbClr val="A4A3A4"/>
          </p15:clr>
        </p15:guide>
        <p15:guide id="18" pos="3772">
          <p15:clr>
            <a:srgbClr val="A4A3A4"/>
          </p15:clr>
        </p15:guide>
        <p15:guide id="19" pos="4974">
          <p15:clr>
            <a:srgbClr val="A4A3A4"/>
          </p15:clr>
        </p15:guide>
        <p15:guide id="20" pos="5133">
          <p15:clr>
            <a:srgbClr val="A4A3A4"/>
          </p15:clr>
        </p15:guide>
        <p15:guide id="21" pos="5586">
          <p15:clr>
            <a:srgbClr val="A4A3A4"/>
          </p15:clr>
        </p15:guide>
        <p15:guide id="22" pos="5745">
          <p15:clr>
            <a:srgbClr val="A4A3A4"/>
          </p15:clr>
        </p15:guide>
        <p15:guide id="23" pos="6199">
          <p15:clr>
            <a:srgbClr val="A4A3A4"/>
          </p15:clr>
        </p15:guide>
        <p15:guide id="24" pos="6357">
          <p15:clr>
            <a:srgbClr val="A4A3A4"/>
          </p15:clr>
        </p15:guide>
        <p15:guide id="25" pos="6788">
          <p15:clr>
            <a:srgbClr val="A4A3A4"/>
          </p15:clr>
        </p15:guide>
        <p15:guide id="26" pos="6970">
          <p15:clr>
            <a:srgbClr val="A4A3A4"/>
          </p15:clr>
        </p15:guide>
        <p15:guide id="27" pos="45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A35"/>
    <a:srgbClr val="774395"/>
    <a:srgbClr val="DC4D2B"/>
    <a:srgbClr val="DB4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Нет стиля, нет сетки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C083E6E3-FA7D-4D7B-A595-EF9225AFEA82}" styleName="Светлый стиль 1 — акцент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solidFill>
                <a:schemeClr val="accent3"/>
              </a:solidFill>
            </a:ln>
          </a:top>
          <a:bottom>
            <a:ln w="12700">
              <a:solidFill>
                <a:schemeClr val="accent3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Style>
        <a:tcBdr/>
        <a:fill>
          <a:solidFill>
            <a:schemeClr val="accent3">
              <a:alpha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12700">
              <a:solidFill>
                <a:schemeClr val="accent3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Style>
        <a:tcBdr>
          <a:bottom>
            <a:ln w="12700">
              <a:solidFill>
                <a:schemeClr val="accent3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1" autoAdjust="0"/>
    <p:restoredTop sz="94673" autoAdjust="0"/>
  </p:normalViewPr>
  <p:slideViewPr>
    <p:cSldViewPr snapToGrid="0">
      <p:cViewPr>
        <p:scale>
          <a:sx n="75" d="100"/>
          <a:sy n="75" d="100"/>
        </p:scale>
        <p:origin x="-696" y="12"/>
      </p:cViewPr>
      <p:guideLst>
        <p:guide orient="horz" pos="278"/>
        <p:guide orient="horz" pos="4042"/>
        <p:guide orient="horz" pos="663"/>
        <p:guide pos="1323"/>
        <p:guide pos="279"/>
        <p:guide pos="7423"/>
        <p:guide pos="892"/>
        <p:guide pos="733"/>
        <p:guide pos="2547"/>
        <p:guide pos="2094"/>
        <p:guide pos="2706"/>
        <p:guide pos="3160"/>
        <p:guide pos="3318"/>
        <p:guide pos="1504"/>
        <p:guide pos="1935"/>
        <p:guide pos="4362"/>
        <p:guide pos="3931"/>
        <p:guide pos="3772"/>
        <p:guide pos="4974"/>
        <p:guide pos="5133"/>
        <p:guide pos="5586"/>
        <p:guide pos="5745"/>
        <p:guide pos="6199"/>
        <p:guide pos="6357"/>
        <p:guide pos="6788"/>
        <p:guide pos="6970"/>
        <p:guide pos="45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666A2-06E1-45DE-A93F-287AEEC2A137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55BE-3B55-4F49-924B-28CF69DA84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2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2355BE-3B55-4F49-924B-28CF69DA84D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73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Научно-технологический потенциал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45A5FDD-DE0A-B094-E452-1DBFF2D0D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/>
          <a:stretch/>
        </p:blipFill>
        <p:spPr>
          <a:xfrm>
            <a:off x="438151" y="443508"/>
            <a:ext cx="7486650" cy="4280892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D0867AF-CAF3-7B55-C0A5-FCC5DE988B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AC8BB583-3305-A42C-7EBF-BF6F37C3FD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C99B1087-3926-DD22-5F81-568B7043A5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" t="12430" r="1" b="13205"/>
          <a:stretch/>
        </p:blipFill>
        <p:spPr>
          <a:xfrm>
            <a:off x="412749" y="420180"/>
            <a:ext cx="7521576" cy="42375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B12A0A5-AF0C-D694-5C74-F6F633D07F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11CA289-490B-68EC-DE4D-D5C78C11F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53"/>
          <a:stretch/>
        </p:blipFill>
        <p:spPr>
          <a:xfrm>
            <a:off x="447674" y="434147"/>
            <a:ext cx="7458076" cy="426167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0F41A69-B04E-A511-5119-BC02892CF2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4" t="-335"/>
          <a:stretch/>
        </p:blipFill>
        <p:spPr>
          <a:xfrm>
            <a:off x="-152400" y="-85725"/>
            <a:ext cx="4186000" cy="570568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069B77B-CBD8-43D5-5FF7-9CBFF64A30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0800000">
            <a:off x="-85726" y="5554493"/>
            <a:ext cx="6291769" cy="142733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682FF7F-F812-4187-F4B9-0C09E6E14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5400000">
            <a:off x="9797787" y="1049970"/>
            <a:ext cx="3615631" cy="13823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0E3DACD8-9901-63A7-98BE-5CB7CDEF7B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032250" y="2400300"/>
            <a:ext cx="6884452" cy="316229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DB6E044B-BB7A-33D7-D159-91C697672D5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4586364" y="443914"/>
            <a:ext cx="701302" cy="5947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Новый раздел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C96239D-47D0-2DFB-9AE9-108EB901E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51B7C6C-9809-7B63-9F54-75394F4B9E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CF3E3FF-84E9-4DDD-5563-ABDCB1745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5400000">
            <a:off x="-1085851" y="1085853"/>
            <a:ext cx="2419352" cy="247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8144D142-42AB-1F6D-E22D-429B1DE30D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5400000">
            <a:off x="-55530" y="300038"/>
            <a:ext cx="847725" cy="2476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F3F2912-3A4C-BDE1-7A6F-DCF9EAF8F9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2577830" y="6610988"/>
            <a:ext cx="9614170" cy="2470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ACEDF381-8388-480E-666D-9E0AC2346A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 rot="10800000">
            <a:off x="8394969" y="6365546"/>
            <a:ext cx="3797030" cy="2470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700775" y="1122363"/>
            <a:ext cx="9967225" cy="1278072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нового раздела</a:t>
            </a:r>
            <a:endParaRPr lang="en-US"/>
          </a:p>
        </p:txBody>
      </p:sp>
      <p:sp>
        <p:nvSpPr>
          <p:cNvPr id="15" name="Заголовок 1"/>
          <p:cNvSpPr txBox="1"/>
          <p:nvPr userDrawn="1"/>
        </p:nvSpPr>
        <p:spPr bwMode="auto">
          <a:xfrm>
            <a:off x="700774" y="4931863"/>
            <a:ext cx="9967225" cy="127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bg1"/>
                </a:solidFill>
                <a:latin typeface="Onest Bold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>
                <a:latin typeface="Onest SemiBold"/>
              </a:rPr>
              <a:t>01</a:t>
            </a:r>
            <a:endParaRPr lang="en-US">
              <a:latin typeface="Onest SemiBold"/>
            </a:endParaRPr>
          </a:p>
        </p:txBody>
      </p:sp>
      <p:sp>
        <p:nvSpPr>
          <p:cNvPr id="1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91081" y="2687637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nest Semi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Подзаголовок раздела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ABBDE96F-66BD-7BEF-E96E-1B76492650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47"/>
          <a:stretch/>
        </p:blipFill>
        <p:spPr>
          <a:xfrm>
            <a:off x="0" y="1"/>
            <a:ext cx="8414535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93A2F82B-63BA-9218-190C-548C7866F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A61951FB-ED2D-6ACA-03E7-F9429CA50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8" t="16020" r="21256"/>
          <a:stretch/>
        </p:blipFill>
        <p:spPr>
          <a:xfrm>
            <a:off x="0" y="0"/>
            <a:ext cx="8380520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79E2E59-158A-3734-1BC5-9F296D4E59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C50ABD2-8B31-9301-E8EA-103E0647A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F66E16C-CFE5-1980-3E61-34E857B2C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t="77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01262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12778" y="366045"/>
            <a:ext cx="3888597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7112777" y="6207647"/>
            <a:ext cx="3888597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1754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F0EA778C-FC86-4B16-F1EE-CD4DCAD58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16A61E26-10DF-0D30-63F0-835083EFAF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0738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нтент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8FB65870-F8AB-EEA2-3C9B-84B6BE0CE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23218" y="2814781"/>
            <a:ext cx="1201157" cy="10744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/>
          <p:nvPr/>
        </p:nvSpPr>
        <p:spPr bwMode="auto">
          <a:xfrm>
            <a:off x="274704" y="5584660"/>
            <a:ext cx="5654541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Направление подготовки: 09.02.07 «Информационные системы и программирование»</a:t>
            </a:r>
          </a:p>
          <a:p>
            <a:pPr lvl="0">
              <a:buClr>
                <a:srgbClr val="000000"/>
              </a:buClr>
              <a:buSzPts val="1600"/>
              <a:defRPr/>
            </a:pPr>
            <a:endParaRPr lang="ru-RU" sz="700" dirty="0">
              <a:solidFill>
                <a:schemeClr val="bg1"/>
              </a:solidFill>
              <a:latin typeface="Onest SemiBold"/>
              <a:cs typeface="Rubik SemiBold"/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Форма обучения: очная</a:t>
            </a: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sz="1600" dirty="0">
                <a:solidFill>
                  <a:schemeClr val="bg1"/>
                </a:solidFill>
                <a:latin typeface="Onest SemiBold"/>
                <a:cs typeface="Rubik SemiBold"/>
              </a:rPr>
              <a:t>Отделение информационных технологий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6970197" y="5577105"/>
            <a:ext cx="4548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dirty="0">
                <a:solidFill>
                  <a:srgbClr val="774395"/>
                </a:solidFill>
                <a:latin typeface="Onest Regular"/>
                <a:cs typeface="Rubik SemiBold"/>
              </a:rPr>
              <a:t>Руководитель</a:t>
            </a:r>
          </a:p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b="1" dirty="0" smtClean="0">
                <a:solidFill>
                  <a:srgbClr val="774395"/>
                </a:solidFill>
                <a:latin typeface="Onest SemiBold"/>
              </a:rPr>
              <a:t>Андреев Владимир Александрович</a:t>
            </a:r>
            <a:endParaRPr lang="ru-RU" dirty="0">
              <a:solidFill>
                <a:srgbClr val="774395"/>
              </a:solidFill>
            </a:endParaRPr>
          </a:p>
          <a:p>
            <a:pPr lvl="0">
              <a:buClr>
                <a:srgbClr val="000000"/>
              </a:buClr>
              <a:buSzPts val="1600"/>
              <a:defRPr/>
            </a:pPr>
            <a:r>
              <a:rPr lang="ru-RU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 Денис Романович</a:t>
            </a:r>
            <a:endParaRPr lang="ru-RU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17743" y="2364867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  <a:endParaRPr lang="ru-RU" sz="3200" dirty="0">
              <a:solidFill>
                <a:schemeClr val="bg1"/>
              </a:solidFill>
              <a:latin typeface="Onest Bold"/>
              <a:ea typeface="Rubi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43074" y="190499"/>
            <a:ext cx="9667875" cy="709613"/>
          </a:xfrm>
        </p:spPr>
        <p:txBody>
          <a:bodyPr>
            <a:normAutofit/>
          </a:bodyPr>
          <a:lstStyle/>
          <a:p>
            <a:r>
              <a:rPr lang="ru-RU" sz="3200" b="1" dirty="0"/>
              <a:t>Актуальность и постановка задачи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3525" y="1182688"/>
            <a:ext cx="9144000" cy="3592512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Более 60% молодежи не умеют планировать бюджет, не понимают инфляцию и </a:t>
            </a:r>
            <a:r>
              <a:rPr lang="ru-RU" sz="7200" dirty="0" smtClean="0"/>
              <a:t>кредиты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Традиционные лекции и учебники не интересны молодым </a:t>
            </a:r>
            <a:r>
              <a:rPr lang="ru-RU" sz="7200" dirty="0" smtClean="0"/>
              <a:t>людям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 err="1"/>
              <a:t>Геймификация</a:t>
            </a:r>
            <a:r>
              <a:rPr lang="ru-RU" sz="7200" dirty="0"/>
              <a:t> (баллы, уровни, бонусы) повышает вовлеченность в 2‑3 </a:t>
            </a:r>
            <a:r>
              <a:rPr lang="ru-RU" sz="7200" dirty="0" smtClean="0"/>
              <a:t>раза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Нужно бесплатное, увлекательное приложение для обучения финансам с нуля</a:t>
            </a:r>
          </a:p>
          <a:p>
            <a:pPr algn="l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25900" y="5868601"/>
            <a:ext cx="7277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Поэтому создаем мобильное приложение </a:t>
            </a:r>
            <a:r>
              <a:rPr lang="ru-RU" dirty="0" err="1" smtClean="0"/>
              <a:t>FinanceQuest</a:t>
            </a:r>
            <a:r>
              <a:rPr lang="ru-RU" dirty="0" smtClean="0"/>
              <a:t>✨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58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9400" y="101599"/>
            <a:ext cx="9144000" cy="601663"/>
          </a:xfrm>
        </p:spPr>
        <p:txBody>
          <a:bodyPr>
            <a:normAutofit/>
          </a:bodyPr>
          <a:lstStyle/>
          <a:p>
            <a:r>
              <a:rPr lang="ru-RU" sz="3200" dirty="0"/>
              <a:t>Анализ существующих решений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2300" y="1303338"/>
            <a:ext cx="9144000" cy="225266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 err="1"/>
              <a:t>Финграм</a:t>
            </a:r>
            <a:r>
              <a:rPr lang="ru-RU" sz="1800" dirty="0"/>
              <a:t> – только тексты, нет игры, скучно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Мои финансы</a:t>
            </a:r>
            <a:r>
              <a:rPr lang="ru-RU" sz="1800" dirty="0"/>
              <a:t> – академично, нет </a:t>
            </a:r>
            <a:r>
              <a:rPr lang="ru-RU" sz="1800" dirty="0" err="1"/>
              <a:t>геймификации</a:t>
            </a:r>
            <a:endParaRPr lang="ru-RU" sz="18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 err="1"/>
              <a:t>InvestLife</a:t>
            </a:r>
            <a:r>
              <a:rPr lang="ru-RU" sz="1800" dirty="0"/>
              <a:t> – только инвестиции, слишком сложно для новичков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Т‑Ж</a:t>
            </a:r>
            <a:r>
              <a:rPr lang="ru-RU" sz="1800" dirty="0"/>
              <a:t> – статьи, нет системы обучения и тестов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 err="1"/>
              <a:t>BitLife</a:t>
            </a:r>
            <a:r>
              <a:rPr lang="ru-RU" sz="1800" dirty="0"/>
              <a:t> – есть игра, но нет структурированных уроков</a:t>
            </a:r>
          </a:p>
          <a:p>
            <a:endParaRPr lang="ru-RU" sz="7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40400" y="41774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Вывод: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«Ни одно приложение не сочетает: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✔ уроки от простого к сложному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✔ игровые механики (уровни, опыт, достижения)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✔ бизнес‑симуляцию и банк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✔ работу без интернета и регистрации»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197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7799"/>
            <a:ext cx="9144000" cy="677863"/>
          </a:xfrm>
        </p:spPr>
        <p:txBody>
          <a:bodyPr>
            <a:normAutofit/>
          </a:bodyPr>
          <a:lstStyle/>
          <a:p>
            <a:r>
              <a:rPr lang="ru-RU" sz="3200" dirty="0"/>
              <a:t>Цель и задачи дипломного проекта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2000" y="1206500"/>
            <a:ext cx="9144000" cy="4876800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r>
              <a:rPr lang="ru-RU" sz="7200" b="1" dirty="0"/>
              <a:t>Цель</a:t>
            </a:r>
            <a:r>
              <a:rPr lang="ru-RU" sz="7200" b="1" dirty="0" smtClean="0"/>
              <a:t>:</a:t>
            </a:r>
            <a:r>
              <a:rPr lang="ru-RU" sz="7200" dirty="0"/>
              <a:t/>
            </a:r>
            <a:br>
              <a:rPr lang="ru-RU" sz="7200" dirty="0"/>
            </a:br>
            <a:r>
              <a:rPr lang="ru-RU" sz="7200" dirty="0"/>
              <a:t>Разработать мобильное приложение для практического обучения финансовой грамотности и экономическому планированию</a:t>
            </a:r>
            <a:r>
              <a:rPr lang="ru-RU" sz="7200" dirty="0" smtClean="0"/>
              <a:t>.</a:t>
            </a:r>
          </a:p>
          <a:p>
            <a:pPr algn="l">
              <a:lnSpc>
                <a:spcPct val="120000"/>
              </a:lnSpc>
            </a:pPr>
            <a:endParaRPr lang="ru-RU" sz="7200" dirty="0"/>
          </a:p>
          <a:p>
            <a:pPr algn="l">
              <a:lnSpc>
                <a:spcPct val="120000"/>
              </a:lnSpc>
            </a:pPr>
            <a:r>
              <a:rPr lang="ru-RU" sz="7200" b="1" dirty="0" smtClean="0"/>
              <a:t>Задачи:</a:t>
            </a: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Проанализировать предметную область и аналоги.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Выбрать технологии (</a:t>
            </a:r>
            <a:r>
              <a:rPr lang="ru-RU" sz="7200" dirty="0" err="1"/>
              <a:t>Kotlin</a:t>
            </a:r>
            <a:r>
              <a:rPr lang="ru-RU" sz="7200" dirty="0"/>
              <a:t>, MVVM, </a:t>
            </a:r>
            <a:r>
              <a:rPr lang="ru-RU" sz="7200" dirty="0" err="1"/>
              <a:t>SharedPreferences</a:t>
            </a:r>
            <a:r>
              <a:rPr lang="ru-RU" sz="7200" dirty="0"/>
              <a:t>).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Спроектировать архитектуру и базу данных.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Разработать UML‑диаграммы.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Реализовать модули: управление финансами, уроки, достижения, бизнес‑симуляцию.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Провести тестирование.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Рассчитать экономическую эффективность.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923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38300" y="152399"/>
            <a:ext cx="9144000" cy="538163"/>
          </a:xfrm>
        </p:spPr>
        <p:txBody>
          <a:bodyPr>
            <a:normAutofit/>
          </a:bodyPr>
          <a:lstStyle/>
          <a:p>
            <a:r>
              <a:rPr lang="ru-RU" sz="3200" dirty="0"/>
              <a:t>Обзор средств разработки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89000" y="1397000"/>
            <a:ext cx="9144000" cy="3949700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r>
              <a:rPr lang="ru-RU" sz="7200" b="1" dirty="0"/>
              <a:t>Стек технологий </a:t>
            </a:r>
            <a:r>
              <a:rPr lang="ru-RU" sz="7200" b="1" dirty="0" smtClean="0"/>
              <a:t>:</a:t>
            </a: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b="1" dirty="0"/>
              <a:t>Язык:</a:t>
            </a:r>
            <a:r>
              <a:rPr lang="ru-RU" sz="7200" dirty="0"/>
              <a:t> </a:t>
            </a:r>
            <a:r>
              <a:rPr lang="ru-RU" sz="7200" dirty="0" err="1"/>
              <a:t>Kotlin</a:t>
            </a:r>
            <a:r>
              <a:rPr lang="ru-RU" sz="7200" dirty="0"/>
              <a:t> (официально рекомендован </a:t>
            </a:r>
            <a:r>
              <a:rPr lang="ru-RU" sz="7200" dirty="0" err="1"/>
              <a:t>Google</a:t>
            </a:r>
            <a:r>
              <a:rPr lang="ru-RU" sz="7200" dirty="0"/>
              <a:t>, безопасный, лаконичный)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b="1" dirty="0"/>
              <a:t>Архитектура:</a:t>
            </a:r>
            <a:r>
              <a:rPr lang="ru-RU" sz="7200" dirty="0"/>
              <a:t> MVVM (легко тестировать, разделяет логику и интерфейс)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b="1" dirty="0"/>
              <a:t>Хранение данных:</a:t>
            </a:r>
            <a:r>
              <a:rPr lang="ru-RU" sz="7200" dirty="0"/>
              <a:t> </a:t>
            </a:r>
            <a:r>
              <a:rPr lang="ru-RU" sz="7200" dirty="0" err="1"/>
              <a:t>SharedPreferences</a:t>
            </a:r>
            <a:r>
              <a:rPr lang="ru-RU" sz="7200" dirty="0"/>
              <a:t> + </a:t>
            </a:r>
            <a:r>
              <a:rPr lang="ru-RU" sz="7200" dirty="0" err="1"/>
              <a:t>Gson</a:t>
            </a:r>
            <a:r>
              <a:rPr lang="ru-RU" sz="7200" dirty="0"/>
              <a:t> (без интернета, без регистрации)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b="1" dirty="0"/>
              <a:t>Диаграммы:</a:t>
            </a:r>
            <a:r>
              <a:rPr lang="ru-RU" sz="7200" dirty="0"/>
              <a:t> </a:t>
            </a:r>
            <a:r>
              <a:rPr lang="ru-RU" sz="7200" dirty="0" err="1"/>
              <a:t>Microsoft</a:t>
            </a:r>
            <a:r>
              <a:rPr lang="ru-RU" sz="7200" dirty="0"/>
              <a:t> </a:t>
            </a:r>
            <a:r>
              <a:rPr lang="ru-RU" sz="7200" dirty="0" err="1"/>
              <a:t>Visio</a:t>
            </a: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b="1" dirty="0"/>
              <a:t>Макеты интерфейса:</a:t>
            </a:r>
            <a:r>
              <a:rPr lang="ru-RU" sz="7200" dirty="0"/>
              <a:t> </a:t>
            </a:r>
            <a:r>
              <a:rPr lang="ru-RU" sz="7200" dirty="0" err="1" smtClean="0"/>
              <a:t>Figma</a:t>
            </a:r>
            <a:endParaRPr lang="ru-RU" sz="7200" dirty="0" smtClean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7200" dirty="0"/>
          </a:p>
          <a:p>
            <a:pPr algn="l">
              <a:lnSpc>
                <a:spcPct val="120000"/>
              </a:lnSpc>
            </a:pPr>
            <a:r>
              <a:rPr lang="ru-RU" sz="7200" dirty="0"/>
              <a:t>Почему именно так:</a:t>
            </a:r>
          </a:p>
          <a:p>
            <a:pPr algn="l">
              <a:lnSpc>
                <a:spcPct val="120000"/>
              </a:lnSpc>
            </a:pPr>
            <a:r>
              <a:rPr lang="ru-RU" sz="7200" dirty="0"/>
              <a:t>«Просто, быстро, работает офлайн, подходит для учебного проекта»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46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63700" y="126999"/>
            <a:ext cx="9144000" cy="1198563"/>
          </a:xfrm>
        </p:spPr>
        <p:txBody>
          <a:bodyPr>
            <a:normAutofit/>
          </a:bodyPr>
          <a:lstStyle/>
          <a:p>
            <a:r>
              <a:rPr lang="ru-RU" sz="3200" dirty="0"/>
              <a:t>Диаграмма вариантов использования (</a:t>
            </a:r>
            <a:r>
              <a:rPr lang="ru-RU" sz="3200" dirty="0" err="1"/>
              <a:t>Use</a:t>
            </a:r>
            <a:r>
              <a:rPr lang="ru-RU" sz="3200" dirty="0"/>
              <a:t> </a:t>
            </a:r>
            <a:r>
              <a:rPr lang="ru-RU" sz="3200" dirty="0" err="1"/>
              <a:t>Case</a:t>
            </a:r>
            <a:r>
              <a:rPr lang="ru-RU" sz="3200" dirty="0"/>
              <a:t>)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17500" y="1506538"/>
            <a:ext cx="59436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1800" b="1" dirty="0"/>
              <a:t>Назначение: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Показывает, какие функции есть у приложения и кто их использует (пользователь, администратор).</a:t>
            </a:r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 l="3159"/>
          <a:stretch/>
        </p:blipFill>
        <p:spPr bwMode="auto">
          <a:xfrm>
            <a:off x="6274434" y="1358582"/>
            <a:ext cx="5752465" cy="53600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0034" y="56597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Основные действия: получить бонус, изучить урок, крутить колесо, обменять валюту, бизнес‑симуляция и т.д.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73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6700" y="152400"/>
            <a:ext cx="9144000" cy="79216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Диаграмма</a:t>
            </a:r>
            <a:r>
              <a:rPr lang="ru-RU" dirty="0"/>
              <a:t> </a:t>
            </a:r>
            <a:r>
              <a:rPr lang="ru-RU" sz="3200" dirty="0"/>
              <a:t>классов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68400" y="6030119"/>
            <a:ext cx="10693400" cy="484981"/>
          </a:xfrm>
        </p:spPr>
        <p:txBody>
          <a:bodyPr>
            <a:normAutofit/>
          </a:bodyPr>
          <a:lstStyle/>
          <a:p>
            <a:r>
              <a:rPr lang="ru-RU" sz="1800" dirty="0"/>
              <a:t>«Классы: </a:t>
            </a:r>
            <a:r>
              <a:rPr lang="en-US" sz="1800" dirty="0" err="1"/>
              <a:t>MainActivity</a:t>
            </a:r>
            <a:r>
              <a:rPr lang="en-US" sz="1800" dirty="0"/>
              <a:t>, </a:t>
            </a:r>
            <a:r>
              <a:rPr lang="en-US" sz="1800" dirty="0" err="1"/>
              <a:t>FinanceManager</a:t>
            </a:r>
            <a:r>
              <a:rPr lang="en-US" sz="1800" dirty="0"/>
              <a:t>, </a:t>
            </a:r>
            <a:r>
              <a:rPr lang="en-US" sz="1800" dirty="0" err="1"/>
              <a:t>EducationManager</a:t>
            </a:r>
            <a:r>
              <a:rPr lang="en-US" sz="1800" dirty="0"/>
              <a:t>, </a:t>
            </a:r>
            <a:r>
              <a:rPr lang="en-US" sz="1800" dirty="0" err="1"/>
              <a:t>LevelSystem</a:t>
            </a:r>
            <a:r>
              <a:rPr lang="en-US" sz="1800" dirty="0"/>
              <a:t>, </a:t>
            </a:r>
            <a:r>
              <a:rPr lang="en-US" sz="1800" dirty="0" err="1"/>
              <a:t>RpgPlayer</a:t>
            </a:r>
            <a:r>
              <a:rPr lang="en-US" sz="1800" dirty="0"/>
              <a:t> </a:t>
            </a:r>
            <a:r>
              <a:rPr lang="ru-RU" sz="1800" dirty="0"/>
              <a:t>и др.»</a:t>
            </a:r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 l="3582"/>
          <a:stretch/>
        </p:blipFill>
        <p:spPr bwMode="auto">
          <a:xfrm>
            <a:off x="2963862" y="2476499"/>
            <a:ext cx="6848475" cy="344455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98500" y="118554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Назначение: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Показывает основные классы приложения и связи между ними.</a:t>
            </a:r>
          </a:p>
          <a:p>
            <a:r>
              <a:rPr lang="ru-RU" b="1" dirty="0"/>
              <a:t>Вставить рисунок</a:t>
            </a:r>
            <a:r>
              <a:rPr lang="ru-RU" dirty="0"/>
              <a:t> из отчета </a:t>
            </a:r>
            <a:r>
              <a:rPr lang="ru-RU" b="1" dirty="0"/>
              <a:t>Рисунок 3</a:t>
            </a:r>
            <a:r>
              <a:rPr lang="ru-RU" dirty="0"/>
              <a:t> (диаграмма классов).</a:t>
            </a:r>
          </a:p>
        </p:txBody>
      </p:sp>
    </p:spTree>
    <p:extLst>
      <p:ext uri="{BB962C8B-B14F-4D97-AF65-F5344CB8AC3E}">
        <p14:creationId xmlns:p14="http://schemas.microsoft.com/office/powerpoint/2010/main" val="210313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2400" y="139699"/>
            <a:ext cx="9144000" cy="614363"/>
          </a:xfrm>
        </p:spPr>
        <p:txBody>
          <a:bodyPr>
            <a:normAutofit/>
          </a:bodyPr>
          <a:lstStyle/>
          <a:p>
            <a:r>
              <a:rPr lang="ru-RU" sz="3200" dirty="0"/>
              <a:t>Диаграмма последовательности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06400" y="1227138"/>
            <a:ext cx="9144000" cy="7413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1800" b="1" dirty="0"/>
              <a:t>Назначение: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Показывает, как объекты взаимодействуют при пополнении депозита.</a:t>
            </a:r>
            <a:endParaRPr lang="ru-RU" sz="18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/>
        </p:blipFill>
        <p:spPr bwMode="auto">
          <a:xfrm>
            <a:off x="1792287" y="2187257"/>
            <a:ext cx="8964613" cy="432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18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38300" y="228599"/>
            <a:ext cx="9144000" cy="766763"/>
          </a:xfrm>
        </p:spPr>
        <p:txBody>
          <a:bodyPr>
            <a:normAutofit/>
          </a:bodyPr>
          <a:lstStyle/>
          <a:p>
            <a:r>
              <a:rPr lang="ru-RU" sz="3200" dirty="0"/>
              <a:t>Проектирование базы данных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16000" y="1392238"/>
            <a:ext cx="9144000" cy="488156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800" b="1" dirty="0"/>
              <a:t>Что храним (сущности):</a:t>
            </a:r>
            <a:endParaRPr lang="ru-RU" sz="1800" dirty="0"/>
          </a:p>
          <a:p>
            <a:pPr algn="l">
              <a:lnSpc>
                <a:spcPct val="100000"/>
              </a:lnSpc>
            </a:pPr>
            <a:r>
              <a:rPr lang="ru-RU" sz="1800" dirty="0"/>
              <a:t>Пользователь (рубли, </a:t>
            </a:r>
            <a:r>
              <a:rPr lang="ru-RU" sz="1800" dirty="0" err="1"/>
              <a:t>рукоины</a:t>
            </a:r>
            <a:r>
              <a:rPr lang="ru-RU" sz="1800" dirty="0"/>
              <a:t>, уровень, опыт, имя)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Прогресс обучения (пройденные уроки, серия дней)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Достижения (список разблокированных)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Инвентарь (предметы и их количество)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Настройки (курс обмена, таймеры</a:t>
            </a:r>
            <a:r>
              <a:rPr lang="ru-RU" sz="1800" dirty="0" smtClean="0"/>
              <a:t>)</a:t>
            </a:r>
          </a:p>
          <a:p>
            <a:pPr algn="l">
              <a:lnSpc>
                <a:spcPct val="100000"/>
              </a:lnSpc>
            </a:pPr>
            <a:endParaRPr lang="ru-RU" sz="1800" dirty="0"/>
          </a:p>
          <a:p>
            <a:pPr algn="l">
              <a:lnSpc>
                <a:spcPct val="100000"/>
              </a:lnSpc>
            </a:pPr>
            <a:r>
              <a:rPr lang="ru-RU" sz="1800" b="1" dirty="0"/>
              <a:t>Где храним: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 err="1"/>
              <a:t>SharedPreferences</a:t>
            </a:r>
            <a:r>
              <a:rPr lang="ru-RU" sz="1800" dirty="0"/>
              <a:t> (простое локальное хранилище) + </a:t>
            </a:r>
            <a:r>
              <a:rPr lang="ru-RU" sz="1800" dirty="0" err="1"/>
              <a:t>сериализация</a:t>
            </a:r>
            <a:r>
              <a:rPr lang="ru-RU" sz="1800" dirty="0"/>
              <a:t> через </a:t>
            </a:r>
            <a:r>
              <a:rPr lang="ru-RU" sz="1800" dirty="0" err="1"/>
              <a:t>Gson</a:t>
            </a:r>
            <a:r>
              <a:rPr lang="ru-RU" sz="1800" dirty="0"/>
              <a:t>.</a:t>
            </a:r>
          </a:p>
          <a:p>
            <a:pPr algn="l">
              <a:lnSpc>
                <a:spcPct val="100000"/>
              </a:lnSpc>
            </a:pPr>
            <a:r>
              <a:rPr lang="ru-RU" sz="1800" b="1" dirty="0"/>
              <a:t>Плюсы:</a:t>
            </a:r>
            <a:endParaRPr lang="ru-RU" sz="1800" dirty="0"/>
          </a:p>
          <a:p>
            <a:pPr algn="l">
              <a:lnSpc>
                <a:spcPct val="100000"/>
              </a:lnSpc>
            </a:pPr>
            <a:r>
              <a:rPr lang="ru-RU" sz="1800" dirty="0"/>
              <a:t>Не нужен интернет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Не требуется регистрация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Быстрый доступ</a:t>
            </a:r>
          </a:p>
          <a:p>
            <a:r>
              <a:rPr lang="ru-RU" sz="800" dirty="0"/>
              <a:t/>
            </a:r>
            <a:br>
              <a:rPr lang="ru-RU" sz="800" dirty="0"/>
            </a:b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68692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63700" y="126999"/>
            <a:ext cx="9144000" cy="588963"/>
          </a:xfrm>
        </p:spPr>
        <p:txBody>
          <a:bodyPr>
            <a:normAutofit/>
          </a:bodyPr>
          <a:lstStyle/>
          <a:p>
            <a:r>
              <a:rPr lang="ru-RU" sz="3200" dirty="0"/>
              <a:t>Пользовательский интерфейс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965" y="1028700"/>
            <a:ext cx="9144000" cy="34925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1800" b="1" dirty="0"/>
              <a:t>Основные экраны (маркеры):</a:t>
            </a:r>
            <a:endParaRPr lang="ru-RU" sz="1800" dirty="0"/>
          </a:p>
          <a:p>
            <a:pPr algn="l">
              <a:lnSpc>
                <a:spcPct val="100000"/>
              </a:lnSpc>
            </a:pPr>
            <a:r>
              <a:rPr lang="ru-RU" sz="1800" dirty="0"/>
              <a:t>Главный экран (баланс, кнопки: бонус, уроки, банк, колесо, обмен, бизнес‑симуляция)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Образовательный раздел (уроки + тесты)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Банк (депозит, проценты)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Колесо финансов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Обмен валюты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Бизнес‑симуляция (RPG)</a:t>
            </a:r>
          </a:p>
          <a:p>
            <a:pPr algn="l">
              <a:lnSpc>
                <a:spcPct val="100000"/>
              </a:lnSpc>
            </a:pPr>
            <a:r>
              <a:rPr lang="ru-RU" sz="1800" dirty="0"/>
              <a:t>Профиль, достижения, рейтинг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/>
        </p:blipFill>
        <p:spPr bwMode="auto">
          <a:xfrm>
            <a:off x="7803831" y="762000"/>
            <a:ext cx="2495867" cy="4784566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 rotWithShape="1">
          <a:blip r:embed="rId3"/>
          <a:srcRect t="58927" b="5309"/>
          <a:stretch/>
        </p:blipFill>
        <p:spPr bwMode="auto">
          <a:xfrm>
            <a:off x="9524998" y="4981734"/>
            <a:ext cx="2495867" cy="17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3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6700" y="114299"/>
            <a:ext cx="9144000" cy="563563"/>
          </a:xfrm>
        </p:spPr>
        <p:txBody>
          <a:bodyPr>
            <a:normAutofit/>
          </a:bodyPr>
          <a:lstStyle/>
          <a:p>
            <a:r>
              <a:rPr lang="ru-RU" sz="3200" dirty="0"/>
              <a:t>Реализация ключевых модулей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5600" y="1100138"/>
            <a:ext cx="9144000" cy="3217862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</a:pPr>
            <a:r>
              <a:rPr lang="ru-RU" sz="1900" b="1" dirty="0"/>
              <a:t>Коротко о главном (без кода, просто словами):</a:t>
            </a:r>
            <a:endParaRPr lang="ru-RU" sz="1900" dirty="0"/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900" b="1" dirty="0"/>
              <a:t>Модуль управления финансами</a:t>
            </a:r>
            <a:r>
              <a:rPr lang="ru-RU" sz="1900" dirty="0"/>
              <a:t> – рубли, </a:t>
            </a:r>
            <a:r>
              <a:rPr lang="ru-RU" sz="1900" dirty="0" err="1"/>
              <a:t>рукоины</a:t>
            </a:r>
            <a:r>
              <a:rPr lang="ru-RU" sz="1900" dirty="0"/>
              <a:t>, депозит с процентами в реальном времени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900" b="1" dirty="0"/>
              <a:t>Образовательный модуль</a:t>
            </a:r>
            <a:r>
              <a:rPr lang="ru-RU" sz="1900" dirty="0"/>
              <a:t> – 5 уроков + тесты; за прохождение – опыт и рубли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900" b="1" dirty="0"/>
              <a:t>Система уровней</a:t>
            </a:r>
            <a:r>
              <a:rPr lang="ru-RU" sz="1900" dirty="0"/>
              <a:t> – опыт → повышение уровня → бонусы к депозиту и ежедневному бонусу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900" b="1" dirty="0"/>
              <a:t>Система достижений</a:t>
            </a:r>
            <a:r>
              <a:rPr lang="ru-RU" sz="1900" dirty="0"/>
              <a:t> – например, «7 дней подряд», «10 уровень» – выдают награды</a:t>
            </a:r>
          </a:p>
          <a:p>
            <a:pPr marL="285750" indent="-2857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900" b="1" dirty="0"/>
              <a:t>Игровые механики</a:t>
            </a:r>
            <a:r>
              <a:rPr lang="ru-RU" sz="1900" dirty="0"/>
              <a:t> – ежедневный бонус, колесо финансов, обмен валюты, бизнес‑симуляция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3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6200" y="165099"/>
            <a:ext cx="9144000" cy="703263"/>
          </a:xfrm>
        </p:spPr>
        <p:txBody>
          <a:bodyPr>
            <a:normAutofit/>
          </a:bodyPr>
          <a:lstStyle/>
          <a:p>
            <a:r>
              <a:rPr lang="ru-RU" sz="3200" dirty="0"/>
              <a:t>Что умеет приложение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2300" y="1282700"/>
            <a:ext cx="9144000" cy="4165600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r>
              <a:rPr lang="ru-RU" sz="7200" b="1" dirty="0"/>
              <a:t>Список (с иконками для красоты):</a:t>
            </a:r>
            <a:endParaRPr lang="ru-RU" sz="72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📅 Ежедневный бонус (серия до 7 дней)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📚 5 обучающих уроков + тестирование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🎡 Колесо финансов (случайный выигрыш/проигрыш)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💱 Обмен валюты (случайный курс, раз в день)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🏦 Банк: депозит под 25% годовых + бонус за уровень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⚔️ Бизнес-симуляция (RPG-бои, предметы, опыт)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🏆 Достижения (6 штук с денежными наградами)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👤 Профиль, рейтинг, мини‑игры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7200" dirty="0"/>
              <a:t>⚙️ Секретное меню разработчика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9549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7800" y="139699"/>
            <a:ext cx="9144000" cy="639763"/>
          </a:xfrm>
        </p:spPr>
        <p:txBody>
          <a:bodyPr>
            <a:normAutofit/>
          </a:bodyPr>
          <a:lstStyle/>
          <a:p>
            <a:r>
              <a:rPr lang="ru-RU" sz="3200" dirty="0"/>
              <a:t>Тестирование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8500" y="1041400"/>
            <a:ext cx="9144000" cy="45974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1800" b="1" dirty="0"/>
              <a:t>Виды тестов (маркеры):</a:t>
            </a:r>
            <a:endParaRPr lang="ru-RU" sz="18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Модульное</a:t>
            </a:r>
            <a:r>
              <a:rPr lang="ru-RU" sz="1800" dirty="0"/>
              <a:t> (</a:t>
            </a:r>
            <a:r>
              <a:rPr lang="ru-RU" sz="1800" dirty="0" err="1"/>
              <a:t>JUnit</a:t>
            </a:r>
            <a:r>
              <a:rPr lang="ru-RU" sz="1800" dirty="0"/>
              <a:t>) – все расчеты верны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Интеграционное</a:t>
            </a:r>
            <a:r>
              <a:rPr lang="ru-RU" sz="1800" dirty="0"/>
              <a:t> (9 тест-кейсов) – все сценарии работают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Пользовательское</a:t>
            </a:r>
            <a:r>
              <a:rPr lang="ru-RU" sz="1800" dirty="0"/>
              <a:t> – на 5 разных устройствах (</a:t>
            </a:r>
            <a:r>
              <a:rPr lang="ru-RU" sz="1800" dirty="0" err="1"/>
              <a:t>Android</a:t>
            </a:r>
            <a:r>
              <a:rPr lang="ru-RU" sz="1800" dirty="0"/>
              <a:t> 9–12) – интерфейс удобен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Производительности</a:t>
            </a:r>
            <a:r>
              <a:rPr lang="ru-RU" sz="1800" dirty="0"/>
              <a:t> – запуск за 1,2 с, память 45–90 </a:t>
            </a:r>
            <a:r>
              <a:rPr lang="ru-RU" sz="1800" dirty="0" smtClean="0"/>
              <a:t>МБ</a:t>
            </a:r>
          </a:p>
          <a:p>
            <a:pPr algn="l">
              <a:lnSpc>
                <a:spcPct val="100000"/>
              </a:lnSpc>
            </a:pPr>
            <a:endParaRPr lang="ru-RU" sz="1800" dirty="0"/>
          </a:p>
          <a:p>
            <a:pPr algn="l">
              <a:lnSpc>
                <a:spcPct val="100000"/>
              </a:lnSpc>
            </a:pPr>
            <a:r>
              <a:rPr lang="ru-RU" sz="1800" b="1" dirty="0"/>
              <a:t>Главные цифры (выделить крупно):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Время запуска: </a:t>
            </a:r>
            <a:r>
              <a:rPr lang="ru-RU" sz="1800" b="1" dirty="0"/>
              <a:t>1,2 с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Память: </a:t>
            </a:r>
            <a:r>
              <a:rPr lang="ru-RU" sz="1800" b="1" dirty="0"/>
              <a:t>45–90 МБ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Ошибок после исправлений: </a:t>
            </a:r>
            <a:r>
              <a:rPr lang="ru-RU" sz="1800" b="1" dirty="0" smtClean="0"/>
              <a:t>0ф</a:t>
            </a:r>
            <a:endParaRPr lang="ru-RU" sz="1800" dirty="0"/>
          </a:p>
          <a:p>
            <a:pPr>
              <a:lnSpc>
                <a:spcPct val="17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585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60500" y="152399"/>
            <a:ext cx="9144000" cy="563563"/>
          </a:xfrm>
        </p:spPr>
        <p:txBody>
          <a:bodyPr>
            <a:normAutofit/>
          </a:bodyPr>
          <a:lstStyle/>
          <a:p>
            <a:r>
              <a:rPr lang="ru-RU" sz="3200" dirty="0"/>
              <a:t>Экономическая эффективность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8800" y="1079500"/>
            <a:ext cx="9144000" cy="370840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ru-RU" sz="1800" b="1" dirty="0"/>
              <a:t>Основные показатели (крупно и наглядно):</a:t>
            </a:r>
            <a:endParaRPr lang="ru-RU" sz="18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Затраты на разработку: </a:t>
            </a:r>
            <a:r>
              <a:rPr lang="ru-RU" sz="1800" b="1" dirty="0"/>
              <a:t>672 628 руб.</a:t>
            </a:r>
            <a:endParaRPr lang="ru-RU" sz="18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Цена программного продукта: </a:t>
            </a:r>
            <a:r>
              <a:rPr lang="ru-RU" sz="1800" b="1" dirty="0"/>
              <a:t>1 066 788 руб.</a:t>
            </a:r>
            <a:endParaRPr lang="ru-RU" sz="18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Чистая прибыль: </a:t>
            </a:r>
            <a:r>
              <a:rPr lang="ru-RU" sz="1800" b="1" dirty="0"/>
              <a:t>151 341 руб.</a:t>
            </a:r>
            <a:endParaRPr lang="ru-RU" sz="18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Налоги в бюджет: </a:t>
            </a:r>
            <a:r>
              <a:rPr lang="ru-RU" sz="1800" b="1" dirty="0"/>
              <a:t>242 819 руб.</a:t>
            </a:r>
            <a:endParaRPr lang="ru-RU" sz="1800" dirty="0"/>
          </a:p>
          <a:p>
            <a:pPr algn="l">
              <a:lnSpc>
                <a:spcPct val="120000"/>
              </a:lnSpc>
            </a:pPr>
            <a:r>
              <a:rPr lang="ru-RU" sz="1800" b="1" dirty="0"/>
              <a:t>Дополнительно (мелким шрифтом):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Трудоемкость – 296 человеко-часов</a:t>
            </a:r>
            <a:br>
              <a:rPr lang="ru-RU" sz="1800" dirty="0"/>
            </a:br>
            <a:r>
              <a:rPr lang="ru-RU" sz="1800" dirty="0"/>
              <a:t>Срок окупаемости – </a:t>
            </a:r>
            <a:r>
              <a:rPr lang="ru-RU" sz="1800" b="1" dirty="0"/>
              <a:t>6–8 месяцев</a:t>
            </a:r>
            <a:r>
              <a:rPr lang="ru-RU" sz="1800" dirty="0"/>
              <a:t> (при продаже лицензии или за счет партнерских программ)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88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>15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ЗАКЛЮЧЕНИЕ (ВЫВОДЫ + ЭКОНОМИЧЕСКАЯ ЧАСТЬ)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594722" y="1058544"/>
            <a:ext cx="693432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1600" dirty="0">
                <a:latin typeface="Onest SemiBold"/>
              </a:rPr>
              <a:t>Результатом выполнения данного проекта является</a:t>
            </a:r>
          </a:p>
          <a:p>
            <a:pPr>
              <a:lnSpc>
                <a:spcPct val="90000"/>
              </a:lnSpc>
              <a:defRPr/>
            </a:pPr>
            <a:r>
              <a:rPr lang="ru-RU" sz="1600" dirty="0" err="1" smtClean="0">
                <a:solidFill>
                  <a:srgbClr val="3AAA35"/>
                </a:solidFill>
                <a:latin typeface="Onest SemiBold"/>
              </a:rPr>
              <a:t>Разработаное</a:t>
            </a:r>
            <a:r>
              <a:rPr lang="ru-RU" sz="1600" dirty="0" smtClean="0">
                <a:solidFill>
                  <a:srgbClr val="3AAA35"/>
                </a:solidFill>
                <a:latin typeface="Onest SemiBold"/>
              </a:rPr>
              <a:t> </a:t>
            </a:r>
            <a:r>
              <a:rPr lang="ru-RU" sz="1600" dirty="0">
                <a:solidFill>
                  <a:srgbClr val="3AAA35"/>
                </a:solidFill>
                <a:latin typeface="Onest SemiBold"/>
              </a:rPr>
              <a:t>мобильное приложение «</a:t>
            </a:r>
            <a:r>
              <a:rPr lang="ru-RU" sz="1600" dirty="0" err="1">
                <a:solidFill>
                  <a:srgbClr val="3AAA35"/>
                </a:solidFill>
                <a:latin typeface="Onest SemiBold"/>
              </a:rPr>
              <a:t>FinanceQuest</a:t>
            </a:r>
            <a:r>
              <a:rPr lang="ru-RU" sz="1600" dirty="0">
                <a:solidFill>
                  <a:srgbClr val="3AAA35"/>
                </a:solidFill>
                <a:latin typeface="Onest SemiBold"/>
              </a:rPr>
              <a:t>» для практического обучения финансовой грамотности</a:t>
            </a:r>
            <a:r>
              <a:rPr lang="ru-RU" sz="1600" dirty="0" smtClean="0">
                <a:solidFill>
                  <a:srgbClr val="3AAA35"/>
                </a:solidFill>
                <a:latin typeface="Onest SemiBold"/>
              </a:rPr>
              <a:t>.</a:t>
            </a:r>
            <a:endParaRPr lang="ru-RU" sz="1600" dirty="0">
              <a:solidFill>
                <a:srgbClr val="3AAA35"/>
              </a:solidFill>
              <a:latin typeface="Onest SemiBold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4608453" y="1990321"/>
            <a:ext cx="7038978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buClr>
                <a:srgbClr val="3AAA35"/>
              </a:buClr>
              <a:defRPr/>
            </a:pPr>
            <a:r>
              <a:rPr lang="ru-RU" sz="1600" b="1" dirty="0"/>
              <a:t>Основные выводы</a:t>
            </a:r>
            <a:r>
              <a:rPr lang="ru-RU" sz="1600" b="1" dirty="0" smtClean="0"/>
              <a:t>: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Приложение сочетает структурированные уроки (5 тем), игровые механики (уровни, достижения, бонусы) и </a:t>
            </a:r>
            <a:r>
              <a:rPr lang="ru-RU" sz="1600" dirty="0" smtClean="0"/>
              <a:t>бизнес‑симуляцию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Работает полностью офлайн, без регистрации и доступа в </a:t>
            </a:r>
            <a:r>
              <a:rPr lang="ru-RU" sz="1600" dirty="0" smtClean="0"/>
              <a:t>интернет</a:t>
            </a:r>
            <a:endParaRPr lang="ru-RU" sz="1600" dirty="0"/>
          </a:p>
          <a:p>
            <a:pPr marL="180000" indent="-180000" algn="just">
              <a:spcBef>
                <a:spcPts val="600"/>
              </a:spcBef>
              <a:buClr>
                <a:srgbClr val="3AAA35"/>
              </a:buClr>
              <a:buFont typeface="Wingdings"/>
              <a:buChar char="§"/>
              <a:defRPr/>
            </a:pPr>
            <a:r>
              <a:rPr lang="ru-RU" sz="1600" dirty="0"/>
              <a:t>Протестировано на </a:t>
            </a:r>
            <a:r>
              <a:rPr lang="ru-RU" sz="1600" dirty="0" err="1"/>
              <a:t>Android</a:t>
            </a:r>
            <a:r>
              <a:rPr lang="ru-RU" sz="1600" dirty="0"/>
              <a:t> 9–12, время запуска 1,2 с, память 45–90 МБ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 bwMode="auto">
          <a:xfrm>
            <a:off x="4608453" y="4412457"/>
            <a:ext cx="1812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Обучение</a:t>
            </a:r>
            <a:r>
              <a:rPr lang="ru-RU" dirty="0"/>
              <a:t> — 5 уроков + тестирование</a:t>
            </a:r>
            <a:endParaRPr lang="ru-RU" sz="1000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6501772" y="4440209"/>
            <a:ext cx="1621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Колесо финансов</a:t>
            </a:r>
            <a:r>
              <a:rPr lang="ru-RU" dirty="0"/>
              <a:t> — случайный выигрыш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 bwMode="auto">
          <a:xfrm>
            <a:off x="8298544" y="4444611"/>
            <a:ext cx="1796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Банковский депозит</a:t>
            </a:r>
            <a:r>
              <a:rPr lang="ru-RU" dirty="0"/>
              <a:t> — проценты в реальном времени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10095315" y="4444406"/>
            <a:ext cx="1798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 dirty="0"/>
              <a:t>Бизнес-симуляция</a:t>
            </a:r>
            <a:r>
              <a:rPr lang="ru-RU" dirty="0"/>
              <a:t> + </a:t>
            </a:r>
            <a:r>
              <a:rPr lang="ru-RU" b="1" dirty="0"/>
              <a:t>Система достижений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>
            <a:cxnSpLocks/>
          </p:cNvCxnSpPr>
          <p:nvPr/>
        </p:nvCxnSpPr>
        <p:spPr bwMode="auto">
          <a:xfrm flipH="1" flipV="1">
            <a:off x="4699000" y="4410075"/>
            <a:ext cx="1599477" cy="206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cxnSpLocks/>
          </p:cNvCxnSpPr>
          <p:nvPr/>
        </p:nvCxnSpPr>
        <p:spPr bwMode="auto">
          <a:xfrm flipH="1">
            <a:off x="6548205" y="4410281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 flipH="1">
            <a:off x="10196963" y="4410281"/>
            <a:ext cx="1534282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cxnSpLocks/>
          </p:cNvCxnSpPr>
          <p:nvPr/>
        </p:nvCxnSpPr>
        <p:spPr bwMode="auto">
          <a:xfrm flipH="1">
            <a:off x="8372584" y="4410281"/>
            <a:ext cx="1574651" cy="0"/>
          </a:xfrm>
          <a:prstGeom prst="line">
            <a:avLst/>
          </a:prstGeom>
          <a:ln w="28575">
            <a:solidFill>
              <a:srgbClr val="3AAA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0">
            <a:extLst>
              <a:ext uri="{FF2B5EF4-FFF2-40B4-BE49-F238E27FC236}">
                <a16:creationId xmlns:a16="http://schemas.microsoft.com/office/drawing/2014/main" xmlns="" id="{8C7E03B5-3EB9-336D-F1C5-628DBE8B8D9E}"/>
              </a:ext>
            </a:extLst>
          </p:cNvPr>
          <p:cNvSpPr/>
          <p:nvPr/>
        </p:nvSpPr>
        <p:spPr bwMode="auto">
          <a:xfrm rot="5400000">
            <a:off x="-121093" y="1566626"/>
            <a:ext cx="5054605" cy="4038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03200" dist="304800" dir="1560000" sx="97000" sy="97000" algn="tl" rotWithShape="0">
              <a:schemeClr val="bg1">
                <a:lumMod val="25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marL="12700">
              <a:spcBef>
                <a:spcPts val="93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6C9C03-F4EF-EFAC-A99E-D6BBF869BBFF}"/>
              </a:ext>
            </a:extLst>
          </p:cNvPr>
          <p:cNvSpPr txBox="1"/>
          <p:nvPr/>
        </p:nvSpPr>
        <p:spPr>
          <a:xfrm>
            <a:off x="2058248" y="4612960"/>
            <a:ext cx="1719471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Срок окупаемости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372E200-873E-298C-D76C-28EF5C05660A}"/>
              </a:ext>
            </a:extLst>
          </p:cNvPr>
          <p:cNvSpPr txBox="1"/>
          <p:nvPr/>
        </p:nvSpPr>
        <p:spPr>
          <a:xfrm>
            <a:off x="2058248" y="4279494"/>
            <a:ext cx="2416871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Чистая прибыль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10BD37AE-A4F5-751D-71AE-46871C88FD7D}"/>
              </a:ext>
            </a:extLst>
          </p:cNvPr>
          <p:cNvSpPr txBox="1"/>
          <p:nvPr/>
        </p:nvSpPr>
        <p:spPr>
          <a:xfrm>
            <a:off x="2032860" y="3907769"/>
            <a:ext cx="256186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Цена программного продукта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8F6B3FC-0FE1-A8E8-FE06-DA2473EDF417}"/>
              </a:ext>
            </a:extLst>
          </p:cNvPr>
          <p:cNvSpPr txBox="1"/>
          <p:nvPr/>
        </p:nvSpPr>
        <p:spPr>
          <a:xfrm>
            <a:off x="2032863" y="3599431"/>
            <a:ext cx="2467643" cy="261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200" dirty="0"/>
              <a:t>Затраты на разработку</a:t>
            </a:r>
            <a:endParaRPr lang="ru-RU" sz="1200" kern="0" dirty="0">
              <a:latin typeface="Onest Regular" pitchFamily="2" charset="0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F4D0DBE-E6AE-9B9E-F959-DFB344020CB1}"/>
              </a:ext>
            </a:extLst>
          </p:cNvPr>
          <p:cNvSpPr txBox="1"/>
          <p:nvPr/>
        </p:nvSpPr>
        <p:spPr>
          <a:xfrm>
            <a:off x="386989" y="3560735"/>
            <a:ext cx="164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672 628 руб.</a:t>
            </a:r>
            <a:endParaRPr lang="ru-RU" sz="1600" dirty="0">
              <a:solidFill>
                <a:srgbClr val="6F4893"/>
              </a:solidFill>
              <a:latin typeface="Onest SemiBold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3325ED5D-C7C7-70C8-6793-6BB150E37F69}"/>
              </a:ext>
            </a:extLst>
          </p:cNvPr>
          <p:cNvSpPr txBox="1"/>
          <p:nvPr/>
        </p:nvSpPr>
        <p:spPr>
          <a:xfrm>
            <a:off x="386989" y="3867758"/>
            <a:ext cx="1645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1 066 788 руб.</a:t>
            </a:r>
            <a:endParaRPr lang="ru-RU" sz="1600" dirty="0">
              <a:solidFill>
                <a:srgbClr val="6F4893"/>
              </a:solidFill>
              <a:latin typeface="Onest SemiBold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384CD4D2-E339-0D02-E735-75EAEBEA5A2F}"/>
              </a:ext>
            </a:extLst>
          </p:cNvPr>
          <p:cNvSpPr txBox="1"/>
          <p:nvPr/>
        </p:nvSpPr>
        <p:spPr>
          <a:xfrm>
            <a:off x="232058" y="4240798"/>
            <a:ext cx="1800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151 341 руб.</a:t>
            </a:r>
            <a:endParaRPr lang="ru-RU" sz="1600" dirty="0">
              <a:solidFill>
                <a:srgbClr val="6F4893"/>
              </a:solidFill>
              <a:latin typeface="Onest SemiBold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3F1E4297-7686-1D31-5162-9E69465FD1D1}"/>
              </a:ext>
            </a:extLst>
          </p:cNvPr>
          <p:cNvSpPr txBox="1"/>
          <p:nvPr/>
        </p:nvSpPr>
        <p:spPr>
          <a:xfrm>
            <a:off x="232058" y="4574264"/>
            <a:ext cx="1800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rgbClr val="6F4893"/>
                </a:solidFill>
                <a:latin typeface="Onest SemiBold" pitchFamily="2" charset="0"/>
              </a:rPr>
              <a:t>6–8 месяцев</a:t>
            </a:r>
            <a:endParaRPr lang="ru-RU" sz="1600" dirty="0">
              <a:solidFill>
                <a:srgbClr val="6F4893"/>
              </a:solidFill>
              <a:latin typeface="Onest SemiBold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08F6B3FC-0FE1-A8E8-FE06-DA2473EDF417}"/>
              </a:ext>
            </a:extLst>
          </p:cNvPr>
          <p:cNvSpPr txBox="1"/>
          <p:nvPr/>
        </p:nvSpPr>
        <p:spPr bwMode="auto">
          <a:xfrm>
            <a:off x="979522" y="3243276"/>
            <a:ext cx="2853377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buClr>
                <a:srgbClr val="8840FF"/>
              </a:buClr>
            </a:pPr>
            <a:r>
              <a:rPr lang="ru-RU" sz="1600" b="1" dirty="0" smtClean="0">
                <a:latin typeface="Onest Regular" pitchFamily="2" charset="0"/>
              </a:rPr>
              <a:t>Экономический эффект:</a:t>
            </a:r>
            <a:endParaRPr lang="ru-RU" sz="1600" b="1" kern="0" dirty="0">
              <a:latin typeface="Onest Regular" pitchFamily="2" charset="0"/>
              <a:cs typeface="Arial"/>
            </a:endParaRPr>
          </a:p>
        </p:txBody>
      </p:sp>
      <p:pic>
        <p:nvPicPr>
          <p:cNvPr id="1026" name="Picture 2" descr="Рубль – Бесплатные иконки: бизнес и финанс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22" y="793681"/>
            <a:ext cx="2767052" cy="276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680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  <a:t/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l="34559" t="1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24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491596"/>
            <a:ext cx="6203950" cy="1366404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6805097" y="5859939"/>
            <a:ext cx="47392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1600"/>
              <a:defRPr/>
            </a:pPr>
            <a:r>
              <a:rPr lang="ru-RU" sz="2000" dirty="0">
                <a:solidFill>
                  <a:srgbClr val="774395"/>
                </a:solidFill>
                <a:cs typeface="Rubik SemiBold"/>
              </a:rPr>
              <a:t>Студент группы </a:t>
            </a:r>
            <a:r>
              <a:rPr lang="ru-RU" sz="2000" dirty="0" smtClean="0">
                <a:solidFill>
                  <a:srgbClr val="774395"/>
                </a:solidFill>
                <a:cs typeface="Rubik SemiBold"/>
              </a:rPr>
              <a:t>22290907/2091</a:t>
            </a:r>
            <a:endParaRPr lang="ru-RU" sz="2000" dirty="0">
              <a:solidFill>
                <a:srgbClr val="774395"/>
              </a:solidFill>
              <a:cs typeface="Rubik SemiBold"/>
            </a:endParaRPr>
          </a:p>
          <a:p>
            <a:pPr lvl="0" algn="r">
              <a:buClr>
                <a:srgbClr val="000000"/>
              </a:buClr>
              <a:buSzPts val="1600"/>
              <a:defRPr/>
            </a:pPr>
            <a:r>
              <a:rPr lang="ru-RU" sz="2000" b="1" dirty="0" err="1" smtClean="0">
                <a:solidFill>
                  <a:srgbClr val="774395"/>
                </a:solidFill>
                <a:latin typeface="Onest SemiBold"/>
                <a:cs typeface="Rubik SemiBold"/>
              </a:rPr>
              <a:t>Бреусов</a:t>
            </a:r>
            <a:r>
              <a:rPr lang="ru-RU" sz="2000" b="1" dirty="0" smtClean="0">
                <a:solidFill>
                  <a:srgbClr val="774395"/>
                </a:solidFill>
                <a:latin typeface="Onest SemiBold"/>
                <a:cs typeface="Rubik SemiBold"/>
              </a:rPr>
              <a:t> Денис Романович</a:t>
            </a:r>
            <a:endParaRPr lang="ru-RU" sz="2000" b="1" dirty="0">
              <a:solidFill>
                <a:srgbClr val="774395"/>
              </a:solidFill>
              <a:latin typeface="Onest SemiBold"/>
              <a:cs typeface="Rubik SemiBold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71100" y="5122316"/>
            <a:ext cx="82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369F31"/>
                </a:solidFill>
                <a:latin typeface="Onest SemiBold"/>
                <a:ea typeface="Rubik SemiBold"/>
                <a:cs typeface="Arial"/>
              </a:rPr>
              <a:t>2026</a:t>
            </a: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l="2627" t="15233" r="1589" b="12813"/>
          <a:stretch/>
        </p:blipFill>
        <p:spPr>
          <a:xfrm>
            <a:off x="4470495" y="825499"/>
            <a:ext cx="5905405" cy="7504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4366295" y="2384428"/>
            <a:ext cx="62109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chemeClr val="bg1"/>
                </a:solidFill>
                <a:latin typeface="Onest Bold"/>
                <a:ea typeface="Rubik SemiBold"/>
              </a:rPr>
              <a:t>«Разработка мобильного приложения для практического обучения финансовой грамотности и экономическому планированию»</a:t>
            </a:r>
          </a:p>
        </p:txBody>
      </p:sp>
      <p:sp>
        <p:nvSpPr>
          <p:cNvPr id="15" name="Заголовок 9"/>
          <p:cNvSpPr>
            <a:spLocks noGrp="1"/>
          </p:cNvSpPr>
          <p:nvPr>
            <p:ph type="ctrTitle"/>
          </p:nvPr>
        </p:nvSpPr>
        <p:spPr bwMode="auto">
          <a:xfrm>
            <a:off x="-2236" y="5489940"/>
            <a:ext cx="6206185" cy="1368061"/>
          </a:xfrm>
        </p:spPr>
        <p:txBody>
          <a:bodyPr anchor="ctr"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3600" dirty="0">
                <a:solidFill>
                  <a:schemeClr val="bg1"/>
                </a:solidFill>
              </a:rPr>
              <a:t>БЛАГОДАРЮ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ЗА ВНИМАНИЕ!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7522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B050"/>
      </a:accent6>
      <a:hlink>
        <a:srgbClr val="0563C1"/>
      </a:hlink>
      <a:folHlink>
        <a:srgbClr val="954F72"/>
      </a:folHlink>
    </a:clrScheme>
    <a:fontScheme name="Другая 2">
      <a:majorFont>
        <a:latin typeface="Onest SemiBold"/>
        <a:ea typeface="Arial"/>
        <a:cs typeface="Arial"/>
      </a:majorFont>
      <a:minorFont>
        <a:latin typeface="Onest Regular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522</Words>
  <Application>Microsoft Office PowerPoint</Application>
  <DocSecurity>0</DocSecurity>
  <PresentationFormat>Произвольный</PresentationFormat>
  <Paragraphs>143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Rubik SemiBold</vt:lpstr>
      <vt:lpstr>Onest SemiBold</vt:lpstr>
      <vt:lpstr>Wingdings</vt:lpstr>
      <vt:lpstr>Onest Regular</vt:lpstr>
      <vt:lpstr>Onest Bold</vt:lpstr>
      <vt:lpstr>Calibri</vt:lpstr>
      <vt:lpstr>Тема Office</vt:lpstr>
      <vt:lpstr>Презентация PowerPoint</vt:lpstr>
      <vt:lpstr>Актуальность и постановка задачи</vt:lpstr>
      <vt:lpstr>Анализ существующих решений</vt:lpstr>
      <vt:lpstr>Цель и задачи дипломного проекта</vt:lpstr>
      <vt:lpstr>Обзор средств разработки</vt:lpstr>
      <vt:lpstr>Диаграмма вариантов использования (Use Case)</vt:lpstr>
      <vt:lpstr>Диаграмма классов</vt:lpstr>
      <vt:lpstr>Диаграмма последовательности</vt:lpstr>
      <vt:lpstr>Проектирование базы данных</vt:lpstr>
      <vt:lpstr>Пользовательский интерфейс</vt:lpstr>
      <vt:lpstr>Реализация ключевых модулей</vt:lpstr>
      <vt:lpstr>Что умеет приложение</vt:lpstr>
      <vt:lpstr>Тестирование</vt:lpstr>
      <vt:lpstr>Экономическая эффективность</vt:lpstr>
      <vt:lpstr>ЗАКЛЮЧЕНИЕ (ВЫВОДЫ + ЭКОНОМИЧЕСКАЯ ЧАСТЬ)</vt:lpstr>
      <vt:lpstr>БЛАГОДАРЮ ЗА ВНИМАНИЕ!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viryms@yandex.ru</dc:creator>
  <cp:keywords/>
  <dc:description/>
  <cp:lastModifiedBy>Zero .</cp:lastModifiedBy>
  <cp:revision>102</cp:revision>
  <dcterms:created xsi:type="dcterms:W3CDTF">2025-02-13T10:56:18Z</dcterms:created>
  <dcterms:modified xsi:type="dcterms:W3CDTF">2026-06-03T20:08:30Z</dcterms:modified>
  <cp:category/>
  <dc:identifier/>
  <cp:contentStatus/>
  <dc:language/>
  <cp:version/>
</cp:coreProperties>
</file>