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69" autoAdjust="0"/>
    <p:restoredTop sz="94660"/>
  </p:normalViewPr>
  <p:slideViewPr>
    <p:cSldViewPr snapToGrid="0">
      <p:cViewPr>
        <p:scale>
          <a:sx n="66" d="100"/>
          <a:sy n="66" d="100"/>
        </p:scale>
        <p:origin x="1044" y="5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C21DE2EE-F79D-4B27-850F-E1252CAF706F}" type="datetimeFigureOut">
              <a:rPr lang="ru-RU" smtClean="0"/>
              <a:t>12.10.2023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E6C2348F-E7DD-4914-89AE-181211F75C18}" type="slidenum">
              <a:rPr lang="ru-RU" smtClean="0"/>
              <a:t>‹#›</a:t>
            </a:fld>
            <a:endParaRPr lang="ru-RU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3719791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DE2EE-F79D-4B27-850F-E1252CAF706F}" type="datetimeFigureOut">
              <a:rPr lang="ru-RU" smtClean="0"/>
              <a:t>12.10.2023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2348F-E7DD-4914-89AE-181211F75C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6089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DE2EE-F79D-4B27-850F-E1252CAF706F}" type="datetimeFigureOut">
              <a:rPr lang="ru-RU" smtClean="0"/>
              <a:t>12.10.2023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2348F-E7DD-4914-89AE-181211F75C18}" type="slidenum">
              <a:rPr lang="ru-RU" smtClean="0"/>
              <a:t>‹#›</a:t>
            </a:fld>
            <a:endParaRPr lang="ru-RU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1453108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DE2EE-F79D-4B27-850F-E1252CAF706F}" type="datetimeFigureOut">
              <a:rPr lang="ru-RU" smtClean="0"/>
              <a:t>12.10.2023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2348F-E7DD-4914-89AE-181211F75C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58909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DE2EE-F79D-4B27-850F-E1252CAF706F}" type="datetimeFigureOut">
              <a:rPr lang="ru-RU" smtClean="0"/>
              <a:t>12.10.2023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2348F-E7DD-4914-89AE-181211F75C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86979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DE2EE-F79D-4B27-850F-E1252CAF706F}" type="datetimeFigureOut">
              <a:rPr lang="ru-RU" smtClean="0"/>
              <a:t>12.10.2023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2348F-E7DD-4914-89AE-181211F75C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92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DE2EE-F79D-4B27-850F-E1252CAF706F}" type="datetimeFigureOut">
              <a:rPr lang="ru-RU" smtClean="0"/>
              <a:t>12.10.2023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2348F-E7DD-4914-89AE-181211F75C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36984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DE2EE-F79D-4B27-850F-E1252CAF706F}" type="datetimeFigureOut">
              <a:rPr lang="ru-RU" smtClean="0"/>
              <a:t>12.10.2023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2348F-E7DD-4914-89AE-181211F75C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47754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DE2EE-F79D-4B27-850F-E1252CAF706F}" type="datetimeFigureOut">
              <a:rPr lang="ru-RU" smtClean="0"/>
              <a:t>12.10.2023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2348F-E7DD-4914-89AE-181211F75C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41892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DE2EE-F79D-4B27-850F-E1252CAF706F}" type="datetimeFigureOut">
              <a:rPr lang="ru-RU" smtClean="0"/>
              <a:t>12.10.2023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2348F-E7DD-4914-89AE-181211F75C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63579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DE2EE-F79D-4B27-850F-E1252CAF706F}" type="datetimeFigureOut">
              <a:rPr lang="ru-RU" smtClean="0"/>
              <a:t>12.10.2023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2348F-E7DD-4914-89AE-181211F75C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30579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C21DE2EE-F79D-4B27-850F-E1252CAF706F}" type="datetimeFigureOut">
              <a:rPr lang="ru-RU" smtClean="0"/>
              <a:t>12.10.2023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E6C2348F-E7DD-4914-89AE-181211F75C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478154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EDAA1A-1B4B-D891-E300-300E8D2FC2A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Обзор современных СУБД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06782E0-5C50-2C18-8540-DABA1CFBC87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812633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BE8869-A2A7-076B-1A6D-6775996C7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Введение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0C7849C-9FCA-1EA4-9573-9E93E02E07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Система управления базами данных (СУБД) – это </a:t>
            </a:r>
            <a:r>
              <a:rPr lang="ru-RU" sz="2400" b="1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набор программ, которые управляют структурой БД и контролируют доступ к данным, хранящимся в БД</a:t>
            </a:r>
            <a:r>
              <a:rPr lang="ru-RU" sz="24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СУБД служит посредником между пользователем и БД. Сама структура БД хранится в виде набора файлов, и единственный способ получить доступ к данным в этих файлах – через СУБД.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44308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00210B-C2A0-2F20-FFB8-1EA5BAFDB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Почему СУБД важны?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DC2B903-3886-49E2-18D8-45D4D5B0C6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Структурирование данных</a:t>
            </a:r>
          </a:p>
          <a:p>
            <a:r>
              <a:rPr lang="ru-RU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Доступность</a:t>
            </a:r>
            <a:endParaRPr lang="ru-RU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r>
              <a:rPr lang="ru-RU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Согласованность данных</a:t>
            </a:r>
          </a:p>
          <a:p>
            <a:r>
              <a:rPr lang="ru-RU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Масштабируемость</a:t>
            </a:r>
          </a:p>
          <a:p>
            <a:r>
              <a:rPr lang="ru-RU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Управление перформансом</a:t>
            </a:r>
            <a:endParaRPr lang="ru-RU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0" indent="0">
              <a:buNone/>
            </a:pPr>
            <a:r>
              <a:rPr lang="ru-RU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СУБД играют решающую роль в эффективном управлении данными и поддерживают работу множества современных информационных систем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353365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B81DFD-6CC5-E107-F99A-97A222506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Типы СУБД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EACEC85-6C60-F6C7-5F7A-DA6F15A925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СУБД можно разделить на несколько основных типов в зависимости от структуры и способа хранения данных.</a:t>
            </a:r>
          </a:p>
          <a:p>
            <a:r>
              <a:rPr lang="ru-RU" sz="20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Реляционные СУБД (RDBMS): </a:t>
            </a:r>
          </a:p>
          <a:p>
            <a:pPr marL="0" indent="0">
              <a:buNone/>
            </a:pPr>
            <a:r>
              <a:rPr lang="ru-RU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Основаны на таблицах с жестко заданными схемами. Используют SQL для запросов и манипуляции данными. Примеры: MySQL, </a:t>
            </a:r>
            <a:r>
              <a:rPr lang="ru-RU" sz="20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PostgreSQL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Oracle.</a:t>
            </a:r>
          </a:p>
          <a:p>
            <a:r>
              <a:rPr lang="en-US" sz="20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NoSQL </a:t>
            </a:r>
            <a:r>
              <a:rPr lang="ru-RU" sz="20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СУБД:</a:t>
            </a:r>
          </a:p>
          <a:p>
            <a:pPr marL="0" indent="0">
              <a:buNone/>
            </a:pPr>
            <a:r>
              <a:rPr lang="ru-RU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Предназначены для хранения и обработки разнородных и неструктурированных данных. Включают </a:t>
            </a:r>
            <a:r>
              <a:rPr lang="ru-RU" sz="20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документо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-ориентированные (</a:t>
            </a:r>
            <a:r>
              <a:rPr lang="ru-RU" sz="20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MongoDB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ru-RU" sz="20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столбцовые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sz="20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Cassandra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и </a:t>
            </a:r>
            <a:r>
              <a:rPr lang="ru-RU" sz="20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графовые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(Neo4j) базы данных.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42784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EE335D-EE7A-34E5-CAF3-2BA9B66AC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Типы СУБД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022E930-CE8A-7AE5-85D6-E16B95F119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sz="2000" b="1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NewSQL</a:t>
            </a:r>
            <a:r>
              <a:rPr lang="ru-RU" sz="20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СУБД: </a:t>
            </a:r>
          </a:p>
          <a:p>
            <a:pPr marL="0" indent="0">
              <a:buNone/>
            </a:pPr>
            <a:r>
              <a:rPr lang="ru-RU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Класс систем управления </a:t>
            </a:r>
            <a:r>
              <a:rPr lang="ru-RU" sz="20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базамиданных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объединяют лучшие аспекты реляционных и </a:t>
            </a:r>
            <a:r>
              <a:rPr lang="ru-RU" sz="20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NoSQL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СУБД. Подходят для масштабируемых и высоконагруженных систем. Примеры: Google </a:t>
            </a:r>
            <a:r>
              <a:rPr lang="ru-RU" sz="20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Spanner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CockroachDB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In-memory </a:t>
            </a:r>
            <a:r>
              <a:rPr lang="ru-RU" sz="2000" b="1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СУБД</a:t>
            </a:r>
            <a:r>
              <a:rPr lang="en-US" sz="2000" b="1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(IMDB)</a:t>
            </a:r>
            <a:r>
              <a:rPr lang="en-US" sz="2000" b="1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2000" b="1" i="0" dirty="0">
              <a:solidFill>
                <a:srgbClr val="333333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Хранят данные в оперативной памяти, обеспечивая быстрый доступ. Подходят для задач, требующих мгновенного доступа к данным.</a:t>
            </a:r>
            <a:endParaRPr lang="ru-RU" sz="2000" dirty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rtl="0" fontAlgn="ctr"/>
            <a:r>
              <a:rPr lang="ru-RU" sz="2000" b="1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Графовые</a:t>
            </a:r>
            <a:r>
              <a:rPr lang="ru-RU" sz="20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СУБД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 algn="l">
              <a:buNone/>
            </a:pPr>
            <a:r>
              <a:rPr lang="ru-RU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Специализированы на хранении и обработке </a:t>
            </a:r>
            <a:r>
              <a:rPr lang="ru-RU" sz="20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графовых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данных. Используются для анализа социальных сетей, связей и т. д.</a:t>
            </a:r>
          </a:p>
          <a:p>
            <a:endParaRPr lang="ru-RU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087997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5264FE-0243-D0EB-74B3-2879F0D645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Реляционные СУБД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3C9653B-869F-87A8-F323-C0B1BC9F21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Структура реляционных СУБД:</a:t>
            </a:r>
          </a:p>
          <a:p>
            <a:pPr marL="0" indent="0">
              <a:buNone/>
            </a:pPr>
            <a:r>
              <a:rPr lang="ru-RU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 1. Таблицы: Основные элементы реляционных СУБД.). </a:t>
            </a:r>
          </a:p>
          <a:p>
            <a:pPr marL="0" indent="0">
              <a:buNone/>
            </a:pPr>
            <a:r>
              <a:rPr lang="ru-RU" dirty="0">
                <a:solidFill>
                  <a:srgbClr val="000000"/>
                </a:solidFill>
                <a:latin typeface="Roboto" panose="02000000000000000000" pitchFamily="2" charset="0"/>
              </a:rPr>
              <a:t> </a:t>
            </a:r>
            <a:r>
              <a:rPr lang="ru-RU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2. Ключи: Реляционные СУБД используют ключи для идентификации и связывания данных.</a:t>
            </a:r>
          </a:p>
          <a:p>
            <a:pPr marL="0" indent="0">
              <a:buNone/>
            </a:pPr>
            <a:r>
              <a:rPr lang="ru-RU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 3. SQL (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Structured</a:t>
            </a:r>
            <a:r>
              <a:rPr lang="ru-RU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Query</a:t>
            </a:r>
            <a:r>
              <a:rPr lang="ru-RU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 Language): Для работы с реляционными СУБД используется SQL - язык структурированных запросов данных. </a:t>
            </a:r>
          </a:p>
          <a:p>
            <a:pPr marL="0" indent="0">
              <a:buNone/>
            </a:pPr>
            <a:r>
              <a:rPr lang="ru-RU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Реляционные СУБД отличаются структурой, интегрированными связями и SQL-запросами, что делает их подходящими для широкого спектра приложений, требующих точного хранения и эффективного управления структурированными данными.</a:t>
            </a:r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892819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ECF167-4077-BC17-2374-E65236D98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7488" y="358095"/>
            <a:ext cx="9692640" cy="1325562"/>
          </a:xfrm>
        </p:spPr>
        <p:txBody>
          <a:bodyPr/>
          <a:lstStyle/>
          <a:p>
            <a:r>
              <a:rPr lang="en-US" dirty="0"/>
              <a:t>NOSQL</a:t>
            </a:r>
            <a:r>
              <a:rPr lang="ru-RU" dirty="0"/>
              <a:t> СУБД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BDE663E-1E27-7B3B-12FB-347D3A675B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Группа баз данных, которые предлагают более гибкие и неструктурированные методы хранения данных.</a:t>
            </a:r>
          </a:p>
          <a:p>
            <a:r>
              <a:rPr lang="ru-RU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типы 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NoSQL 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СУБД: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20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Документо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-ориентированные базы данных.</a:t>
            </a:r>
            <a:endParaRPr lang="ru-RU" sz="2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ru-RU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Базы данных ключ-значение.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20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Столбцовые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базы данных.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20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Графовые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базы данных</a:t>
            </a: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ru-RU" sz="20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NoSQL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СУБД предоставляют гибкие и масштабируемые решения для современных приложений, где требуется обработка разнообразных данных и высокая производительность.</a:t>
            </a:r>
            <a:endParaRPr lang="ru-RU" sz="2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55566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FB2A4A-F060-D880-081E-3B30FE40B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NewSQL </a:t>
            </a:r>
            <a:r>
              <a:rPr lang="ru-RU" dirty="0"/>
              <a:t>СУБД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6D130A2-2758-B84A-766F-6AE4A82FEC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Основные черты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NewSQL</a:t>
            </a:r>
            <a:r>
              <a:rPr lang="ru-RU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 включают в себя:</a:t>
            </a:r>
          </a:p>
          <a:p>
            <a:pPr marL="342900" indent="-342900">
              <a:buFont typeface="+mj-lt"/>
              <a:buAutoNum type="arabicPeriod"/>
            </a:pPr>
            <a:r>
              <a:rPr lang="ru-RU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Реляционная модель</a:t>
            </a:r>
            <a:endParaRPr lang="ru-RU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ru-RU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Горизонтальное масштабирование</a:t>
            </a:r>
          </a:p>
          <a:p>
            <a:pPr marL="342900" indent="-342900">
              <a:buFont typeface="+mj-lt"/>
              <a:buAutoNum type="arabicPeriod"/>
            </a:pPr>
            <a:r>
              <a:rPr lang="ru-RU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Высокая доступность</a:t>
            </a:r>
            <a:endParaRPr lang="ru-RU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0" indent="0">
              <a:buNone/>
            </a:pPr>
            <a:r>
              <a:rPr lang="ru-RU" b="0" i="0" dirty="0" err="1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NewSQL</a:t>
            </a:r>
            <a:r>
              <a:rPr lang="ru-RU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 СУБД подходят для критически важных приложений, таких как финансовые системы, электронная коммерция и системы управления заказами, где одновременно важны надежность и производительность.</a:t>
            </a:r>
          </a:p>
          <a:p>
            <a:pPr marL="0" indent="0">
              <a:buNone/>
            </a:pPr>
            <a:r>
              <a:rPr lang="ru-RU" b="0" i="0" dirty="0" err="1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NewSQL</a:t>
            </a:r>
            <a:r>
              <a:rPr lang="ru-RU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 СУБД сочетают в себе преимущества реляционных и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NoSQL</a:t>
            </a:r>
            <a:r>
              <a:rPr lang="ru-RU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 подходов, предоставляя мощные решения для сложных сценариев.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475831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A8AC130-33B1-7A9C-E129-9A5D70E5F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In-Memory </a:t>
            </a:r>
            <a:r>
              <a:rPr lang="ru-RU" dirty="0"/>
              <a:t>СУБД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2A1AB48-0C58-FBDB-B3A2-37DCF6767F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Особенности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In-Memory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СУБД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342900" indent="-342900">
              <a:buFont typeface="+mj-lt"/>
              <a:buAutoNum type="arabicPeriod"/>
            </a:pP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Хранение в оперативной памяти</a:t>
            </a:r>
          </a:p>
          <a:p>
            <a:pPr marL="342900" indent="-342900">
              <a:buFont typeface="+mj-lt"/>
              <a:buAutoNum type="arabicPeriod"/>
            </a:pP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Высокая производительность</a:t>
            </a:r>
            <a:endParaRPr lang="ru-RU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Оптимизация запросов</a:t>
            </a:r>
          </a:p>
          <a:p>
            <a:pPr marL="342900" indent="-342900">
              <a:buFont typeface="+mj-lt"/>
              <a:buAutoNum type="arabicPeriod"/>
            </a:pP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Подходят для аналитики</a:t>
            </a:r>
          </a:p>
          <a:p>
            <a:pPr marL="0" indent="0">
              <a:buNone/>
            </a:pP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Эти СУБД применяются в аналитических приложениях, системах управления операциями, финансовых аналитических приложениях и многих других сферах, где высокая производительность и низкая задержка критичны.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51878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BE9C5E-A62B-B027-D54C-920100C74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Графовые</a:t>
            </a:r>
            <a:r>
              <a:rPr lang="ru-RU" dirty="0"/>
              <a:t> СУБД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0E012B8-117F-D353-A9AB-5B549DF566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Преимущества </a:t>
            </a:r>
            <a:r>
              <a:rPr lang="ru-RU" dirty="0" err="1"/>
              <a:t>графовых</a:t>
            </a:r>
            <a:r>
              <a:rPr lang="ru-RU" dirty="0"/>
              <a:t> СУБД включают: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/>
              <a:t>Полное представление взаимосвязей данных: </a:t>
            </a:r>
            <a:r>
              <a:rPr lang="ru-RU" dirty="0" err="1"/>
              <a:t>графовые</a:t>
            </a:r>
            <a:r>
              <a:rPr lang="ru-RU" dirty="0"/>
              <a:t> СУБД позволяют легко моделировать сложные связи между данными, такие как социальные сети, логистические сети или генеалогические деревья.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/>
              <a:t>Высокая производительность для сложных запросов: благодаря использованию специализированных алгоритмов и индексов, </a:t>
            </a:r>
            <a:r>
              <a:rPr lang="ru-RU" dirty="0" err="1"/>
              <a:t>графовые</a:t>
            </a:r>
            <a:r>
              <a:rPr lang="ru-RU" dirty="0"/>
              <a:t> СУБД могут быстро выполнять сложные поисковые и аналитические запросы.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/>
              <a:t>-Гибкость и масштабируемость: </a:t>
            </a:r>
            <a:r>
              <a:rPr lang="ru-RU" dirty="0" err="1"/>
              <a:t>графовые</a:t>
            </a:r>
            <a:r>
              <a:rPr lang="ru-RU" dirty="0"/>
              <a:t> СУБД могут легко масштабироваться для обработки больших объемов данных, а также быть интегрированы с другими базами данных или инструментами.</a:t>
            </a:r>
          </a:p>
        </p:txBody>
      </p:sp>
    </p:spTree>
    <p:extLst>
      <p:ext uri="{BB962C8B-B14F-4D97-AF65-F5344CB8AC3E}">
        <p14:creationId xmlns:p14="http://schemas.microsoft.com/office/powerpoint/2010/main" val="13995398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DB2797-4464-6F95-2F1A-F760A0347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Выбор СУБД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41ADF6F-FDCF-299A-5706-4FE9481559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Основные особенности:</a:t>
            </a:r>
          </a:p>
          <a:p>
            <a:pPr marL="342900" indent="-342900">
              <a:buFont typeface="+mj-lt"/>
              <a:buAutoNum type="arabicPeriod"/>
            </a:pPr>
            <a:r>
              <a:rPr lang="ru-RU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 Производительность</a:t>
            </a:r>
          </a:p>
          <a:p>
            <a:pPr marL="342900" indent="-342900">
              <a:buFont typeface="+mj-lt"/>
              <a:buAutoNum type="arabicPeriod"/>
            </a:pPr>
            <a:r>
              <a:rPr lang="ru-RU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Масштабируемость</a:t>
            </a:r>
          </a:p>
          <a:p>
            <a:pPr marL="342900" indent="-342900">
              <a:buFont typeface="+mj-lt"/>
              <a:buAutoNum type="arabicPeriod"/>
            </a:pPr>
            <a:r>
              <a:rPr lang="ru-RU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Надежность и согласованность</a:t>
            </a:r>
          </a:p>
          <a:p>
            <a:pPr marL="342900" indent="-342900">
              <a:buFont typeface="+mj-lt"/>
              <a:buAutoNum type="arabicPeriod"/>
            </a:pPr>
            <a:r>
              <a:rPr lang="ru-RU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Скорость разработки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solidFill>
                  <a:srgbClr val="000000"/>
                </a:solidFill>
                <a:latin typeface="Roboto" panose="02000000000000000000" pitchFamily="2" charset="0"/>
              </a:rPr>
              <a:t>Соответствие требованиям приложения</a:t>
            </a:r>
            <a:endParaRPr lang="ru-RU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0" indent="0">
              <a:buNone/>
            </a:pPr>
            <a:r>
              <a:rPr lang="ru-RU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Выбор СУБД зависит от конкретных требований вашего проекта, и его важно оценивать в контексте конкретных потребностей и целей.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586772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2A3F62-B610-85AB-5256-C34B4D2C01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Вывод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91EF166-8BF7-9E53-E799-42A1F9D49D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Выбор правильной СУБД - ключевой этап в разработке и внедрении любого информационного проекта. Это решение может оказать огромное влияние на производительность, надежность и успешность вашего приложения.</a:t>
            </a:r>
          </a:p>
          <a:p>
            <a:r>
              <a:rPr lang="ru-RU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Выбор СУБД - это не только техническое решение, но и стратегическое влияние на ваш бизнес. Сделайте это правильно, чтобы обеспечить успех вашего проекта и долгосрочную эффективность в управлении данными.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720086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48CBE1-A968-EF71-A575-808F12CBB7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СПАСИБО ЗА ВНИМАНИЕ!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B7CFD9E-B6A3-9CB9-F66F-F3A8B13AF9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321547"/>
      </p:ext>
    </p:extLst>
  </p:cSld>
  <p:clrMapOvr>
    <a:masterClrMapping/>
  </p:clrMapOvr>
</p:sld>
</file>

<file path=ppt/theme/theme1.xml><?xml version="1.0" encoding="utf-8"?>
<a:theme xmlns:a="http://schemas.openxmlformats.org/drawingml/2006/main" name="Вид">
  <a:themeElements>
    <a:clrScheme name="Вид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Вид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Вид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TM03457515[[fn=Вид]]</Template>
  <TotalTime>134</TotalTime>
  <Words>675</Words>
  <Application>Microsoft Office PowerPoint</Application>
  <PresentationFormat>Широкоэкранный</PresentationFormat>
  <Paragraphs>68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9" baseType="lpstr">
      <vt:lpstr>Arial</vt:lpstr>
      <vt:lpstr>Century Schoolbook</vt:lpstr>
      <vt:lpstr>Roboto</vt:lpstr>
      <vt:lpstr>Times New Roman</vt:lpstr>
      <vt:lpstr>Wingdings 2</vt:lpstr>
      <vt:lpstr>Вид</vt:lpstr>
      <vt:lpstr>Обзор современных СУБД</vt:lpstr>
      <vt:lpstr>Введение</vt:lpstr>
      <vt:lpstr>Почему СУБД важны?</vt:lpstr>
      <vt:lpstr>Типы СУБД</vt:lpstr>
      <vt:lpstr>Типы СУБД</vt:lpstr>
      <vt:lpstr>Реляционные СУБД</vt:lpstr>
      <vt:lpstr>NOSQL СУБД</vt:lpstr>
      <vt:lpstr>NewSQL СУБД</vt:lpstr>
      <vt:lpstr>In-Memory СУБД</vt:lpstr>
      <vt:lpstr>Графовые СУБД</vt:lpstr>
      <vt:lpstr>Выбор СУБД</vt:lpstr>
      <vt:lpstr>Вывод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Обзор современных СУБД</dc:title>
  <dc:creator>Павлова Полина Алексеевна</dc:creator>
  <cp:lastModifiedBy>Павлова Полина Алексеевна</cp:lastModifiedBy>
  <cp:revision>1</cp:revision>
  <dcterms:created xsi:type="dcterms:W3CDTF">2023-10-12T15:27:42Z</dcterms:created>
  <dcterms:modified xsi:type="dcterms:W3CDTF">2023-10-12T17:41:57Z</dcterms:modified>
</cp:coreProperties>
</file>