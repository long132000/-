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82"/>
  </p:notesMasterIdLst>
  <p:sldIdLst>
    <p:sldId id="256" r:id="rId2"/>
    <p:sldId id="294" r:id="rId3"/>
    <p:sldId id="334" r:id="rId4"/>
    <p:sldId id="306" r:id="rId5"/>
    <p:sldId id="298" r:id="rId6"/>
    <p:sldId id="355" r:id="rId7"/>
    <p:sldId id="299" r:id="rId8"/>
    <p:sldId id="348" r:id="rId9"/>
    <p:sldId id="356" r:id="rId10"/>
    <p:sldId id="357" r:id="rId11"/>
    <p:sldId id="349" r:id="rId12"/>
    <p:sldId id="350" r:id="rId13"/>
    <p:sldId id="351" r:id="rId14"/>
    <p:sldId id="352" r:id="rId15"/>
    <p:sldId id="353" r:id="rId16"/>
    <p:sldId id="354" r:id="rId17"/>
    <p:sldId id="358" r:id="rId18"/>
    <p:sldId id="359" r:id="rId19"/>
    <p:sldId id="360" r:id="rId20"/>
    <p:sldId id="361" r:id="rId21"/>
    <p:sldId id="303" r:id="rId22"/>
    <p:sldId id="264" r:id="rId23"/>
    <p:sldId id="265" r:id="rId24"/>
    <p:sldId id="266" r:id="rId25"/>
    <p:sldId id="262" r:id="rId26"/>
    <p:sldId id="335" r:id="rId27"/>
    <p:sldId id="336" r:id="rId28"/>
    <p:sldId id="337" r:id="rId29"/>
    <p:sldId id="343" r:id="rId30"/>
    <p:sldId id="338" r:id="rId31"/>
    <p:sldId id="340" r:id="rId32"/>
    <p:sldId id="344" r:id="rId33"/>
    <p:sldId id="339" r:id="rId34"/>
    <p:sldId id="263" r:id="rId35"/>
    <p:sldId id="341" r:id="rId36"/>
    <p:sldId id="346" r:id="rId37"/>
    <p:sldId id="347" r:id="rId38"/>
    <p:sldId id="342" r:id="rId39"/>
    <p:sldId id="272" r:id="rId40"/>
    <p:sldId id="362" r:id="rId41"/>
    <p:sldId id="363" r:id="rId42"/>
    <p:sldId id="273" r:id="rId43"/>
    <p:sldId id="274" r:id="rId44"/>
    <p:sldId id="275" r:id="rId45"/>
    <p:sldId id="325" r:id="rId46"/>
    <p:sldId id="367" r:id="rId47"/>
    <p:sldId id="368" r:id="rId48"/>
    <p:sldId id="304" r:id="rId49"/>
    <p:sldId id="276" r:id="rId50"/>
    <p:sldId id="278" r:id="rId51"/>
    <p:sldId id="364" r:id="rId52"/>
    <p:sldId id="324" r:id="rId53"/>
    <p:sldId id="369" r:id="rId54"/>
    <p:sldId id="370" r:id="rId55"/>
    <p:sldId id="371" r:id="rId56"/>
    <p:sldId id="372" r:id="rId57"/>
    <p:sldId id="373" r:id="rId58"/>
    <p:sldId id="279" r:id="rId59"/>
    <p:sldId id="281" r:id="rId60"/>
    <p:sldId id="280" r:id="rId61"/>
    <p:sldId id="326" r:id="rId62"/>
    <p:sldId id="282" r:id="rId63"/>
    <p:sldId id="283" r:id="rId64"/>
    <p:sldId id="293" r:id="rId65"/>
    <p:sldId id="365" r:id="rId66"/>
    <p:sldId id="285" r:id="rId67"/>
    <p:sldId id="366" r:id="rId68"/>
    <p:sldId id="284" r:id="rId69"/>
    <p:sldId id="331" r:id="rId70"/>
    <p:sldId id="286" r:id="rId71"/>
    <p:sldId id="287" r:id="rId72"/>
    <p:sldId id="329" r:id="rId73"/>
    <p:sldId id="328" r:id="rId74"/>
    <p:sldId id="327" r:id="rId75"/>
    <p:sldId id="291" r:id="rId76"/>
    <p:sldId id="332" r:id="rId77"/>
    <p:sldId id="333" r:id="rId78"/>
    <p:sldId id="292" r:id="rId79"/>
    <p:sldId id="305" r:id="rId80"/>
    <p:sldId id="289" r:id="rId8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>
      <p:cViewPr varScale="1">
        <p:scale>
          <a:sx n="108" d="100"/>
          <a:sy n="108" d="100"/>
        </p:scale>
        <p:origin x="172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A4C3D-8665-4065-B2E7-EB3E078FBD48}" type="datetimeFigureOut">
              <a:rPr lang="ru-RU" smtClean="0"/>
              <a:t>11.02.2025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3A3AF-8B66-4950-8BD6-B6C338B2C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4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3A3AF-8B66-4950-8BD6-B6C338B2C63E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341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75C9992-1483-4754-A7F1-B17EF7664984}" type="datetimeFigureOut">
              <a:rPr lang="ru-RU" smtClean="0"/>
              <a:pPr/>
              <a:t>11.02.2025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031545A-8137-4E23-BA17-D3C69A12305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gi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65847" y="1052736"/>
            <a:ext cx="8100392" cy="2309642"/>
          </a:xfrm>
        </p:spPr>
        <p:txBody>
          <a:bodyPr>
            <a:noAutofit/>
          </a:bodyPr>
          <a:lstStyle/>
          <a:p>
            <a:r>
              <a:rPr lang="ru-RU" sz="4400" dirty="0"/>
              <a:t>Унифицированный язык моделирования</a:t>
            </a:r>
            <a:endParaRPr lang="ru-RU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1720" y="3645024"/>
            <a:ext cx="6172200" cy="585918"/>
          </a:xfrm>
        </p:spPr>
        <p:txBody>
          <a:bodyPr>
            <a:normAutofit fontScale="92500"/>
          </a:bodyPr>
          <a:lstStyle/>
          <a:p>
            <a:r>
              <a:rPr lang="ru-RU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МДК 01.01 Разработка программных модулей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928992" cy="1143000"/>
          </a:xfrm>
        </p:spPr>
        <p:txBody>
          <a:bodyPr>
            <a:normAutofit/>
          </a:bodyPr>
          <a:lstStyle/>
          <a:p>
            <a:r>
              <a:rPr lang="ru-RU" b="1" dirty="0"/>
              <a:t>Унифицированный язык моделирования</a:t>
            </a:r>
            <a:br>
              <a:rPr lang="ru-RU" b="1" dirty="0"/>
            </a:br>
            <a:r>
              <a:rPr lang="ru-RU" b="1" dirty="0"/>
              <a:t>(</a:t>
            </a:r>
            <a:r>
              <a:rPr lang="ru-RU" b="1" cap="none" dirty="0" err="1">
                <a:solidFill>
                  <a:schemeClr val="tx1"/>
                </a:solidFill>
              </a:rPr>
              <a:t>Unified</a:t>
            </a:r>
            <a:r>
              <a:rPr lang="ru-RU" b="1" cap="none" dirty="0">
                <a:solidFill>
                  <a:schemeClr val="tx1"/>
                </a:solidFill>
              </a:rPr>
              <a:t> </a:t>
            </a:r>
            <a:r>
              <a:rPr lang="ru-RU" b="1" cap="none" dirty="0" err="1">
                <a:solidFill>
                  <a:schemeClr val="tx1"/>
                </a:solidFill>
              </a:rPr>
              <a:t>Modeling</a:t>
            </a:r>
            <a:r>
              <a:rPr lang="ru-RU" b="1" cap="none" dirty="0">
                <a:solidFill>
                  <a:schemeClr val="tx1"/>
                </a:solidFill>
              </a:rPr>
              <a:t> </a:t>
            </a:r>
            <a:r>
              <a:rPr lang="ru-RU" b="1" cap="none" dirty="0" err="1">
                <a:solidFill>
                  <a:schemeClr val="tx1"/>
                </a:solidFill>
              </a:rPr>
              <a:t>Language</a:t>
            </a:r>
            <a:r>
              <a:rPr lang="ru-RU" b="1" cap="none" dirty="0">
                <a:solidFill>
                  <a:schemeClr val="tx1"/>
                </a:solidFill>
              </a:rPr>
              <a:t>, UML</a:t>
            </a:r>
            <a:r>
              <a:rPr lang="ru-RU" b="1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23528" y="1916832"/>
            <a:ext cx="7848872" cy="4557120"/>
          </a:xfrm>
        </p:spPr>
        <p:txBody>
          <a:bodyPr/>
          <a:lstStyle/>
          <a:p>
            <a:pPr algn="just"/>
            <a:r>
              <a:rPr lang="ru-RU" sz="2800" dirty="0"/>
              <a:t>Является графическим языком для спецификации, визуализации, проектирования и документирования систем. </a:t>
            </a:r>
          </a:p>
          <a:p>
            <a:pPr algn="just"/>
            <a:r>
              <a:rPr lang="ru-RU" sz="2800" dirty="0"/>
              <a:t>С помощью </a:t>
            </a:r>
            <a:r>
              <a:rPr lang="ru-RU" sz="2800" i="1" dirty="0"/>
              <a:t>UML</a:t>
            </a:r>
            <a:r>
              <a:rPr lang="ru-RU" sz="2800" dirty="0"/>
              <a:t> можно разработать подробную модель создаваемой системы, отображающую не только ее концепцию, но и конкретные особенности реализации. 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214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ТИПЫ  ДИАГРАММ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sz="2800" b="1" dirty="0"/>
              <a:t>UML содержит диаграммы трех типов:</a:t>
            </a:r>
          </a:p>
          <a:p>
            <a:pPr algn="just"/>
            <a:r>
              <a:rPr lang="ru-RU" sz="2800" dirty="0"/>
              <a:t> моделирования статической структуры системы</a:t>
            </a:r>
          </a:p>
          <a:p>
            <a:pPr algn="just"/>
            <a:r>
              <a:rPr lang="ru-RU" sz="2800" dirty="0"/>
              <a:t> моделирования поведенческих аспектов системы</a:t>
            </a:r>
          </a:p>
          <a:p>
            <a:pPr algn="just"/>
            <a:r>
              <a:rPr lang="ru-RU" sz="2800" dirty="0"/>
              <a:t>моделирования физических аспектов функционирования системы (диаграммы реализации)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5020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последовательность построения диаграмм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/>
              <a:t>диаграмма прецедентов,</a:t>
            </a:r>
          </a:p>
          <a:p>
            <a:r>
              <a:rPr lang="ru-RU" dirty="0"/>
              <a:t>диаграмма классов,</a:t>
            </a:r>
          </a:p>
          <a:p>
            <a:r>
              <a:rPr lang="ru-RU" dirty="0"/>
              <a:t>диаграмма объектов,</a:t>
            </a:r>
          </a:p>
          <a:p>
            <a:r>
              <a:rPr lang="ru-RU" dirty="0"/>
              <a:t>диаграмма последовательностей,</a:t>
            </a:r>
          </a:p>
          <a:p>
            <a:r>
              <a:rPr lang="ru-RU" dirty="0"/>
              <a:t>диаграмма кооперации,</a:t>
            </a:r>
          </a:p>
          <a:p>
            <a:r>
              <a:rPr lang="ru-RU" dirty="0"/>
              <a:t>диаграмма состояний,</a:t>
            </a:r>
          </a:p>
          <a:p>
            <a:r>
              <a:rPr lang="ru-RU" dirty="0"/>
              <a:t>диаграмма активности,</a:t>
            </a:r>
          </a:p>
          <a:p>
            <a:r>
              <a:rPr lang="ru-RU" dirty="0"/>
              <a:t>диаграмма развертывания.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58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9120" y="188640"/>
            <a:ext cx="7467600" cy="1143000"/>
          </a:xfrm>
        </p:spPr>
        <p:txBody>
          <a:bodyPr/>
          <a:lstStyle/>
          <a:p>
            <a:r>
              <a:rPr lang="ru-RU" b="1" i="1" dirty="0"/>
              <a:t>Диаграмма прецедентов </a:t>
            </a:r>
            <a:br>
              <a:rPr lang="ru-RU" b="1" i="1" dirty="0"/>
            </a:br>
            <a:r>
              <a:rPr lang="ru-RU" b="1" i="1" dirty="0"/>
              <a:t>(</a:t>
            </a:r>
            <a:r>
              <a:rPr lang="ru-RU" b="1" i="1" dirty="0" err="1">
                <a:solidFill>
                  <a:schemeClr val="tx1"/>
                </a:solidFill>
              </a:rPr>
              <a:t>use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b="1" i="1" dirty="0" err="1">
                <a:solidFill>
                  <a:schemeClr val="tx1"/>
                </a:solidFill>
              </a:rPr>
              <a:t>case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b="1" i="1" dirty="0" err="1">
                <a:solidFill>
                  <a:schemeClr val="tx1"/>
                </a:solidFill>
              </a:rPr>
              <a:t>diagram</a:t>
            </a:r>
            <a:r>
              <a:rPr lang="ru-RU" b="1" i="1" dirty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700808"/>
            <a:ext cx="8280920" cy="4824536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Когда разработчик создаёт своё приложение, он в первую очередь задумывается над двумя вопросами: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Что будет делать приложение?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Кто будет пользоваться этим приложением?</a:t>
            </a:r>
          </a:p>
          <a:p>
            <a:pPr algn="l"/>
            <a:r>
              <a:rPr lang="ru-RU" dirty="0"/>
              <a:t>Некоторыми программами может пользоваться множество людей, поэтому часто необходимо выделять различные группы пользователей системы. У каждой такой группы могут быть свои права и возможности в системе.</a:t>
            </a:r>
          </a:p>
          <a:p>
            <a:pPr algn="l"/>
            <a:r>
              <a:rPr lang="ru-RU" dirty="0"/>
              <a:t>Для того чтобы описать различные группы пользователей и их возможности в будущей программе, создаётся диаграмма прецедентов (вариантов использования).</a:t>
            </a:r>
          </a:p>
        </p:txBody>
      </p:sp>
    </p:spTree>
    <p:extLst>
      <p:ext uri="{BB962C8B-B14F-4D97-AF65-F5344CB8AC3E}">
        <p14:creationId xmlns:p14="http://schemas.microsoft.com/office/powerpoint/2010/main" val="317119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3970784" cy="576064"/>
          </a:xfrm>
        </p:spPr>
        <p:txBody>
          <a:bodyPr>
            <a:normAutofit/>
          </a:bodyPr>
          <a:lstStyle/>
          <a:p>
            <a:r>
              <a:rPr lang="ru-RU" b="1" i="1" dirty="0"/>
              <a:t>Актёр (эктор)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9033" y="2132856"/>
            <a:ext cx="7715200" cy="370035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Сущности, с которыми взаимодействует система в процессе своей работы, называются </a:t>
            </a:r>
            <a:r>
              <a:rPr lang="ru-RU" b="1" dirty="0" err="1"/>
              <a:t>экторами</a:t>
            </a:r>
            <a:r>
              <a:rPr lang="ru-RU" dirty="0"/>
              <a:t>, причем каждый эктор ожидает, что система будет вести себя строго определенным, предсказуемым образом. </a:t>
            </a:r>
          </a:p>
          <a:p>
            <a:pPr algn="just"/>
            <a:r>
              <a:rPr lang="ru-RU" b="1" dirty="0"/>
              <a:t>Эктор (</a:t>
            </a:r>
            <a:r>
              <a:rPr lang="ru-RU" b="1" dirty="0" err="1"/>
              <a:t>actor</a:t>
            </a:r>
            <a:r>
              <a:rPr lang="ru-RU" b="1" dirty="0"/>
              <a:t>)</a:t>
            </a:r>
            <a:r>
              <a:rPr lang="ru-RU" dirty="0"/>
              <a:t> - это множество логически связанных ролей, исполняемых при взаимодействии с прецедентами или сущностями (система, подсистема или класс). </a:t>
            </a:r>
          </a:p>
          <a:p>
            <a:pPr algn="just"/>
            <a:r>
              <a:rPr lang="ru-RU" b="1" dirty="0"/>
              <a:t>Эктором</a:t>
            </a:r>
            <a:r>
              <a:rPr lang="ru-RU" dirty="0"/>
              <a:t> может быть человек или другая система, подсистема или класс, которые представляют нечто вне сущности.</a:t>
            </a:r>
          </a:p>
        </p:txBody>
      </p:sp>
      <p:pic>
        <p:nvPicPr>
          <p:cNvPr id="4" name="Рисунок 3" descr="http://baumanki.net/uploads/lectures/informatika-i-programmirovanie/uml/files/1-2-vidy-diagramm-um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39830" y="260648"/>
            <a:ext cx="2664296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307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505371"/>
            <a:ext cx="3610744" cy="706090"/>
          </a:xfrm>
        </p:spPr>
        <p:txBody>
          <a:bodyPr/>
          <a:lstStyle/>
          <a:p>
            <a:r>
              <a:rPr lang="ru-RU" b="1" dirty="0"/>
              <a:t>Прецендент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772816"/>
            <a:ext cx="7715200" cy="39890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b="1" dirty="0"/>
              <a:t>Прецедент (</a:t>
            </a:r>
            <a:r>
              <a:rPr lang="ru-RU" b="1" dirty="0" err="1"/>
              <a:t>use-case</a:t>
            </a:r>
            <a:r>
              <a:rPr lang="ru-RU" b="1" dirty="0"/>
              <a:t>)</a:t>
            </a:r>
            <a:r>
              <a:rPr lang="ru-RU" dirty="0"/>
              <a:t> - описание отдельного аспекта поведения системы с точки зрения пользователя.</a:t>
            </a:r>
          </a:p>
          <a:p>
            <a:pPr algn="just"/>
            <a:r>
              <a:rPr lang="ru-RU" b="1" dirty="0"/>
              <a:t>Прецедент (</a:t>
            </a:r>
            <a:r>
              <a:rPr lang="ru-RU" b="1" dirty="0" err="1"/>
              <a:t>use</a:t>
            </a:r>
            <a:r>
              <a:rPr lang="ru-RU" b="1" dirty="0"/>
              <a:t> </a:t>
            </a:r>
            <a:r>
              <a:rPr lang="ru-RU" b="1" dirty="0" err="1"/>
              <a:t>case</a:t>
            </a:r>
            <a:r>
              <a:rPr lang="ru-RU" b="1" dirty="0"/>
              <a:t>)</a:t>
            </a:r>
            <a:r>
              <a:rPr lang="ru-RU" dirty="0"/>
              <a:t> - описание множества последовательных событий (включая варианты), выполняемых системой, которые приводят к наблюдаемому эктором результату. </a:t>
            </a:r>
          </a:p>
          <a:p>
            <a:pPr algn="just"/>
            <a:r>
              <a:rPr lang="ru-RU" dirty="0"/>
              <a:t>Прецедент представляет поведение сущности, описывая взаимодействие между </a:t>
            </a:r>
            <a:r>
              <a:rPr lang="ru-RU" dirty="0" err="1"/>
              <a:t>экторами</a:t>
            </a:r>
            <a:r>
              <a:rPr lang="ru-RU" dirty="0"/>
              <a:t> и системой. </a:t>
            </a:r>
          </a:p>
          <a:p>
            <a:pPr algn="just"/>
            <a:r>
              <a:rPr lang="ru-RU" dirty="0"/>
              <a:t>Прецедент не показывает, "как" достигается некоторый результат, а только "что" именно выполняется.</a:t>
            </a:r>
          </a:p>
          <a:p>
            <a:endParaRPr lang="ru-RU" dirty="0"/>
          </a:p>
        </p:txBody>
      </p:sp>
      <p:pic>
        <p:nvPicPr>
          <p:cNvPr id="4" name="Рисунок 3" descr="http://baumanki.net/uploads/lectures/informatika-i-programmirovanie/uml/files/2-2-vidy-diagramm-um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541735"/>
            <a:ext cx="2304256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40136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b="1" dirty="0"/>
              <a:t>Виды отношений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931224" cy="115212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 диаграммах UML для связывания элементов используются различные соединительные линии, которые называются </a:t>
            </a:r>
            <a:r>
              <a:rPr lang="ru-RU" i="1" dirty="0"/>
              <a:t>отношениями</a:t>
            </a:r>
            <a:r>
              <a:rPr lang="ru-RU" dirty="0"/>
              <a:t>. 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2636912"/>
            <a:ext cx="3528392" cy="358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89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9F5D1-3266-4CAB-BD3F-AA71E8500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>
            <a:normAutofit/>
          </a:bodyPr>
          <a:lstStyle/>
          <a:p>
            <a:r>
              <a:rPr lang="ru-RU" dirty="0"/>
              <a:t>Выделение групп пользователей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AE837-6496-4FCC-9A75-1D5439AEC0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1414" y="1556792"/>
            <a:ext cx="7467600" cy="4824536"/>
          </a:xfrm>
        </p:spPr>
        <p:txBody>
          <a:bodyPr/>
          <a:lstStyle/>
          <a:p>
            <a:r>
              <a:rPr lang="ru-RU" dirty="0"/>
              <a:t>В качестве примера программной системы выберем информационную систему для техникума.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Font typeface="Wingdings"/>
              <a:buNone/>
            </a:pPr>
            <a:r>
              <a:rPr lang="ru-RU" b="1" dirty="0"/>
              <a:t>В этой системе можно выделить следующие группы пользователей:</a:t>
            </a: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§"/>
            </a:pPr>
            <a:r>
              <a:rPr lang="ru-RU" sz="2400" dirty="0"/>
              <a:t>Обучающиеся</a:t>
            </a: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§"/>
            </a:pPr>
            <a:r>
              <a:rPr lang="ru-RU" sz="2400" dirty="0"/>
              <a:t>Преподаватели</a:t>
            </a: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§"/>
            </a:pPr>
            <a:r>
              <a:rPr lang="ru-RU" sz="2400" dirty="0"/>
              <a:t>Классные руководители</a:t>
            </a: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§"/>
            </a:pPr>
            <a:r>
              <a:rPr lang="ru-RU" sz="2400" dirty="0"/>
              <a:t>Заместители директора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4246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2C3B8-441A-4829-958D-C28F4A9A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50106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-apple-system"/>
              </a:rPr>
              <a:t>Каждая из групп пользователей может пользоваться нашей системой по-своему: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71B613-1A7C-4DC1-87FD-9EFB2F06E6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4643" y="1268760"/>
            <a:ext cx="7467600" cy="558924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Обучающиеся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могут: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Смотреть расписание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Просматривать свои оценки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Преподаватели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могут: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Размещать материалы для уроков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Выставлять оценки в электронный журнал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Классные руководители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могут делать все то же самое, что и преподаватели плюс: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Составлять расписание родительских собраний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Заместители директора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могут: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Составлять расписание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Публиковать посты с важной информацией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Кроме того, у системы есть функционал, который доступен всем группам пользователей. В разрабатываемой нами системе актуально будет добавить мессенджер, в котором можно будет быстро связываться с интересующим человеком. </a:t>
            </a:r>
            <a:b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Все пользователи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могут: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Отправлять сообщения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7923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ru-RU" dirty="0"/>
              <a:t>Отношение ассоциации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787208" cy="531460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Отобразим на диаграмме информацию о том, какие </a:t>
            </a:r>
            <a:r>
              <a:rPr lang="ru-RU" b="1" dirty="0"/>
              <a:t>варианты использования </a:t>
            </a:r>
            <a:r>
              <a:rPr lang="ru-RU" dirty="0"/>
              <a:t>могут быть использованы каждым эктором. Сейчас, например, мы хотим показать, что выставлять оценки могут только преподаватели.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Если на диаграмме вариантов использования эктор соединен с вариантом использования с помощью </a:t>
            </a:r>
            <a:r>
              <a:rPr lang="ru-RU" i="1" dirty="0"/>
              <a:t>отношения ассоциации</a:t>
            </a:r>
            <a:r>
              <a:rPr lang="ru-RU" dirty="0"/>
              <a:t>, это означает, что данный эктор может выполнять действия, описанные вариантом использования.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204864"/>
            <a:ext cx="4053408" cy="266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90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260648"/>
            <a:ext cx="7859216" cy="1224136"/>
          </a:xfrm>
        </p:spPr>
        <p:txBody>
          <a:bodyPr>
            <a:normAutofit fontScale="92500"/>
          </a:bodyPr>
          <a:lstStyle/>
          <a:p>
            <a:r>
              <a:rPr lang="ru-RU" dirty="0"/>
              <a:t> Некоторые обязанности у нас </a:t>
            </a:r>
            <a:r>
              <a:rPr lang="ru-RU" b="1" i="1" dirty="0"/>
              <a:t>ассоциируются</a:t>
            </a:r>
            <a:r>
              <a:rPr lang="ru-RU" dirty="0"/>
              <a:t> с определённой группой людей, поэтому мы связываем экторов с </a:t>
            </a:r>
            <a:r>
              <a:rPr lang="ru-RU" i="1" dirty="0"/>
              <a:t>ассоциируемыми</a:t>
            </a:r>
            <a:r>
              <a:rPr lang="ru-RU" dirty="0"/>
              <a:t> с ними действиями.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56792"/>
            <a:ext cx="7488832" cy="511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82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b="1" dirty="0"/>
              <a:t>Отношение обобщения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088740"/>
            <a:ext cx="7787208" cy="115212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Отношение обобщения используется, чтобы показать, что одно действие является </a:t>
            </a:r>
            <a:r>
              <a:rPr lang="ru-RU" i="1" dirty="0"/>
              <a:t>частным случаем</a:t>
            </a:r>
            <a:r>
              <a:rPr lang="ru-RU" dirty="0"/>
              <a:t> другого действия или что одну группу людей можно </a:t>
            </a:r>
            <a:r>
              <a:rPr lang="ru-RU" i="1" dirty="0"/>
              <a:t>обобщить </a:t>
            </a:r>
            <a:r>
              <a:rPr lang="ru-RU" dirty="0"/>
              <a:t>до другой группы.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420888"/>
            <a:ext cx="8640960" cy="422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59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ru-RU" b="1" dirty="0"/>
              <a:t>Отношение обобщения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003232" cy="3168352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ru-RU" sz="1800" dirty="0"/>
              <a:t>Давайте обратим внимание на действие «Узнать свои оценки». Логично предположить, что обучающиеся захотят не только знать список своих оценок, но и знать свою среднюю оценку за некоторый период времени или среднюю оценку по определённому предмету.</a:t>
            </a:r>
          </a:p>
          <a:p>
            <a:pPr algn="l">
              <a:lnSpc>
                <a:spcPct val="120000"/>
              </a:lnSpc>
            </a:pPr>
            <a:r>
              <a:rPr lang="ru-RU" sz="1800" dirty="0"/>
              <a:t>Изобразим это на диаграмме. Создадим два варианта использования "Узнать среднюю оценку за некоторый период времени" и "Узнать среднюю оценку по предмету" и соединим их с вариантом использования "Узнать свои оценки" </a:t>
            </a:r>
            <a:r>
              <a:rPr lang="ru-RU" sz="1800" i="1" dirty="0"/>
              <a:t>отношением обобщения.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861048"/>
            <a:ext cx="5544616" cy="288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11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539552" y="404664"/>
            <a:ext cx="7467600" cy="57606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Добавим отношение обобщения в общую диаграмму: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87644"/>
            <a:ext cx="7683624" cy="538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39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04664"/>
          </a:xfrm>
        </p:spPr>
        <p:txBody>
          <a:bodyPr/>
          <a:lstStyle/>
          <a:p>
            <a:r>
              <a:rPr lang="ru-RU" dirty="0"/>
              <a:t>Отношение включения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550180" y="1189447"/>
            <a:ext cx="7467600" cy="3009528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dirty="0"/>
              <a:t>Для заместителя директора мы отмечали, что ему нужно составлять расписания. </a:t>
            </a:r>
          </a:p>
          <a:p>
            <a:pPr algn="l"/>
            <a:r>
              <a:rPr lang="ru-RU" sz="2000" dirty="0"/>
              <a:t>Расписание можно поделить на три категории:</a:t>
            </a:r>
          </a:p>
          <a:p>
            <a:pPr lvl="1">
              <a:buFont typeface="+mj-lt"/>
              <a:buAutoNum type="arabicPeriod"/>
            </a:pPr>
            <a:r>
              <a:rPr lang="ru-RU" sz="1800" dirty="0"/>
              <a:t>Расписание занятий</a:t>
            </a:r>
          </a:p>
          <a:p>
            <a:pPr lvl="1">
              <a:buFont typeface="+mj-lt"/>
              <a:buAutoNum type="arabicPeriod"/>
            </a:pPr>
            <a:r>
              <a:rPr lang="ru-RU" sz="1800" dirty="0"/>
              <a:t>Расписание мероприятий</a:t>
            </a:r>
          </a:p>
          <a:p>
            <a:pPr lvl="1">
              <a:buFont typeface="+mj-lt"/>
              <a:buAutoNum type="arabicPeriod"/>
            </a:pPr>
            <a:r>
              <a:rPr lang="ru-RU" sz="1800" dirty="0"/>
              <a:t>Расписание каникул</a:t>
            </a:r>
          </a:p>
          <a:p>
            <a:pPr algn="l"/>
            <a:r>
              <a:rPr lang="ru-RU" sz="2000" dirty="0"/>
              <a:t>Все расписания составляются заместителем директора, поэтому покажем это на диаграмме. Для этого будем использовать отношение включения. 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48B36B-2275-4B19-B422-101EFBCBD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4509120"/>
            <a:ext cx="2304281" cy="9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17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05DB20-2E4B-4A0A-AF55-6AD02BD71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40" y="3533519"/>
            <a:ext cx="4680520" cy="33244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7E901-DEBA-4948-A488-6B20E9C4E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1" y="101486"/>
            <a:ext cx="7467600" cy="706090"/>
          </a:xfrm>
        </p:spPr>
        <p:txBody>
          <a:bodyPr>
            <a:normAutofit/>
          </a:bodyPr>
          <a:lstStyle/>
          <a:p>
            <a:r>
              <a:rPr lang="ru-RU" dirty="0"/>
              <a:t>Отношение включения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D9ABC5-B695-432D-AB81-4BD9B71F92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73964" y="924146"/>
            <a:ext cx="8130484" cy="3008910"/>
          </a:xfrm>
        </p:spPr>
        <p:txBody>
          <a:bodyPr>
            <a:normAutofit/>
          </a:bodyPr>
          <a:lstStyle/>
          <a:p>
            <a:r>
              <a:rPr lang="ru-RU" sz="2200" dirty="0"/>
              <a:t>В общем случае, </a:t>
            </a:r>
            <a:r>
              <a:rPr lang="ru-RU" sz="2200" i="1" dirty="0"/>
              <a:t>отношение включения </a:t>
            </a:r>
            <a:r>
              <a:rPr lang="ru-RU" sz="2200" dirty="0"/>
              <a:t>используется, чтобы показать, что некоторый вариант использования включает в себя другой вариант использования в качестве составной части.</a:t>
            </a:r>
          </a:p>
          <a:p>
            <a:r>
              <a:rPr lang="ru-RU" sz="2200" dirty="0"/>
              <a:t>Когда мы используем </a:t>
            </a:r>
            <a:r>
              <a:rPr lang="ru-RU" sz="2200" i="1" dirty="0"/>
              <a:t>отношение включения</a:t>
            </a:r>
            <a:r>
              <a:rPr lang="ru-RU" sz="2200" dirty="0"/>
              <a:t>, мы подразумеваем, что составные варианты использования </a:t>
            </a:r>
            <a:r>
              <a:rPr lang="ru-RU" sz="2200" b="1" dirty="0"/>
              <a:t>обязательно </a:t>
            </a:r>
            <a:r>
              <a:rPr lang="ru-RU" sz="2200" dirty="0"/>
              <a:t>входят в состав общего варианта использования.</a:t>
            </a:r>
          </a:p>
        </p:txBody>
      </p:sp>
    </p:spTree>
    <p:extLst>
      <p:ext uri="{BB962C8B-B14F-4D97-AF65-F5344CB8AC3E}">
        <p14:creationId xmlns:p14="http://schemas.microsoft.com/office/powerpoint/2010/main" val="1466052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725771F-3F91-464F-8439-268996B24E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9552" y="251108"/>
            <a:ext cx="7467600" cy="532656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Третья версия диаграммы вариантов использования: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5DFB6F-5B05-4ED3-927F-5834D4A5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744071"/>
            <a:ext cx="7755632" cy="61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67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B779FD-6FDD-4CA6-AE90-520E7C44B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227" y="2612059"/>
            <a:ext cx="2431509" cy="106221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EB810-1A49-4F56-89C6-460510B9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3020"/>
          </a:xfrm>
        </p:spPr>
        <p:txBody>
          <a:bodyPr/>
          <a:lstStyle/>
          <a:p>
            <a:r>
              <a:rPr lang="ru-RU" dirty="0"/>
              <a:t>Отношение расширения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82350-6565-45E6-92BC-903A18D7A39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2265" y="1111409"/>
            <a:ext cx="7936160" cy="2072322"/>
          </a:xfrm>
        </p:spPr>
        <p:txBody>
          <a:bodyPr>
            <a:normAutofit/>
          </a:bodyPr>
          <a:lstStyle/>
          <a:p>
            <a:r>
              <a:rPr lang="ru-RU" sz="2000" dirty="0"/>
              <a:t>Студентам необходимо выполнять домашние задания и присылать их в виде архива или файла учителям. Получается, нужно добавить возможность прикреплять файл к сообщению в нашей системе. </a:t>
            </a:r>
          </a:p>
          <a:p>
            <a:r>
              <a:rPr lang="ru-RU" sz="2000" dirty="0"/>
              <a:t>Чтобы отобразить это на диаграмме мы будем использовать </a:t>
            </a:r>
            <a:r>
              <a:rPr lang="ru-RU" sz="2000" i="1" dirty="0"/>
              <a:t>отношение расширения.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77B754-FE90-4785-B02B-64B9EC35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573016"/>
            <a:ext cx="4968552" cy="185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64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86B667-B075-4A92-92FF-DF68BFE0F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71" y="404664"/>
            <a:ext cx="7831413" cy="648072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4E7BC3BF-8CC8-4E8D-BFC8-F1C642803C0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5536" y="332656"/>
            <a:ext cx="7467600" cy="532656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Итоговая версия диаграммы вариантов использования:</a:t>
            </a:r>
          </a:p>
        </p:txBody>
      </p:sp>
    </p:spTree>
    <p:extLst>
      <p:ext uri="{BB962C8B-B14F-4D97-AF65-F5344CB8AC3E}">
        <p14:creationId xmlns:p14="http://schemas.microsoft.com/office/powerpoint/2010/main" val="3719219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цели создания диаграмм прецедентов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28800"/>
            <a:ext cx="7467600" cy="4845152"/>
          </a:xfrm>
        </p:spPr>
        <p:txBody>
          <a:bodyPr/>
          <a:lstStyle/>
          <a:p>
            <a:pPr algn="just"/>
            <a:r>
              <a:rPr lang="ru-RU" dirty="0"/>
              <a:t>определение границы и контекста моделируемой предметной области на ранних этапах проектирования;</a:t>
            </a:r>
          </a:p>
          <a:p>
            <a:pPr algn="just"/>
            <a:r>
              <a:rPr lang="ru-RU" dirty="0"/>
              <a:t>формирование общих требований к поведению проектируемой системы, разграничение вариантов использования системы разными видами пользователей;</a:t>
            </a:r>
          </a:p>
          <a:p>
            <a:pPr algn="just"/>
            <a:r>
              <a:rPr lang="ru-RU" dirty="0"/>
              <a:t>разработка концептуальной модели системы для ее последующей детализации;</a:t>
            </a:r>
          </a:p>
          <a:p>
            <a:pPr algn="just"/>
            <a:r>
              <a:rPr lang="ru-RU" dirty="0"/>
              <a:t>подготовка документации для взаимодействия с заказчиками и пользователями системы.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068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b="1" i="1" dirty="0"/>
              <a:t>Диаграмма классов (</a:t>
            </a:r>
            <a:r>
              <a:rPr lang="ru-RU" b="1" i="1" dirty="0" err="1">
                <a:solidFill>
                  <a:schemeClr val="tx1"/>
                </a:solidFill>
              </a:rPr>
              <a:t>class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b="1" i="1" dirty="0" err="1">
                <a:solidFill>
                  <a:schemeClr val="tx1"/>
                </a:solidFill>
              </a:rPr>
              <a:t>diagram</a:t>
            </a:r>
            <a:r>
              <a:rPr lang="ru-RU" b="1" i="1" dirty="0"/>
              <a:t>)</a:t>
            </a:r>
            <a:endParaRPr lang="ru-RU" dirty="0"/>
          </a:p>
        </p:txBody>
      </p:sp>
      <p:pic>
        <p:nvPicPr>
          <p:cNvPr id="4" name="Содержимое 3" descr="http://baumanki.net/uploads/lectures/informatika-i-programmirovanie/uml/files/5-2-vidy-diagramm-uml.jpg"/>
          <p:cNvPicPr>
            <a:picLocks noGrp="1"/>
          </p:cNvPicPr>
          <p:nvPr>
            <p:ph sz="quarter" idx="1"/>
          </p:nvPr>
        </p:nvPicPr>
        <p:blipFill>
          <a:blip r:embed="rId2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1547664" y="2132856"/>
            <a:ext cx="5184576" cy="3600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467544" y="980728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Диаграмма классов - это </a:t>
            </a:r>
            <a:r>
              <a:rPr lang="ru-RU" sz="2400" i="1" dirty="0"/>
              <a:t>набор статических</a:t>
            </a:r>
            <a:r>
              <a:rPr lang="ru-RU" sz="2400" dirty="0"/>
              <a:t>, декларативных </a:t>
            </a:r>
            <a:r>
              <a:rPr lang="ru-RU" sz="2400" i="1" dirty="0"/>
              <a:t>элементов модели</a:t>
            </a:r>
            <a:r>
              <a:rPr lang="ru-RU" sz="24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3C11EF-9452-4731-9365-A04A3C84E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92696"/>
            <a:ext cx="8373398" cy="45367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ttp://baumanki.net/uploads/lectures/informatika-i-programmirovanie/uml/files/7-2-vidy-diagramm-um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7344816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Виды отношений между классами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772816"/>
            <a:ext cx="8496944" cy="4629128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Ассоциация (связи между объектами)</a:t>
            </a:r>
          </a:p>
          <a:p>
            <a:pPr algn="just"/>
            <a:r>
              <a:rPr lang="ru-RU" sz="2800" dirty="0"/>
              <a:t>Зависимость (отображает влияние одного класса на другой)</a:t>
            </a:r>
          </a:p>
          <a:p>
            <a:pPr algn="just"/>
            <a:r>
              <a:rPr lang="ru-RU" sz="2800" dirty="0"/>
              <a:t>Обобщение-специализация («</a:t>
            </a:r>
            <a:r>
              <a:rPr lang="en-US" sz="2800" dirty="0"/>
              <a:t>is a</a:t>
            </a:r>
            <a:r>
              <a:rPr lang="ru-RU" sz="2800" dirty="0"/>
              <a:t>»</a:t>
            </a:r>
            <a:r>
              <a:rPr lang="en-US" sz="2800" dirty="0"/>
              <a:t> </a:t>
            </a:r>
            <a:r>
              <a:rPr lang="ru-RU" sz="2800" dirty="0"/>
              <a:t>отношение)</a:t>
            </a:r>
          </a:p>
          <a:p>
            <a:pPr algn="just"/>
            <a:r>
              <a:rPr lang="ru-RU" sz="2800" dirty="0"/>
              <a:t>Целое-часть («</a:t>
            </a:r>
            <a:r>
              <a:rPr lang="en-US" sz="2800" dirty="0"/>
              <a:t>part of</a:t>
            </a:r>
            <a:r>
              <a:rPr lang="ru-RU" sz="2800" dirty="0"/>
              <a:t>»</a:t>
            </a:r>
            <a:r>
              <a:rPr lang="en-US" sz="2800" dirty="0"/>
              <a:t> </a:t>
            </a:r>
            <a:r>
              <a:rPr lang="ru-RU" sz="2800" dirty="0"/>
              <a:t>отношение)</a:t>
            </a:r>
          </a:p>
          <a:p>
            <a:pPr lvl="1" algn="just"/>
            <a:r>
              <a:rPr lang="ru-RU" sz="2500" dirty="0"/>
              <a:t>Агрегация</a:t>
            </a:r>
          </a:p>
          <a:p>
            <a:pPr lvl="1" algn="just"/>
            <a:r>
              <a:rPr lang="ru-RU" sz="2500" dirty="0"/>
              <a:t>Композиция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BB692-8107-4CD6-AAB7-8F4467EF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17160"/>
          </a:xfrm>
        </p:spPr>
        <p:txBody>
          <a:bodyPr>
            <a:normAutofit/>
          </a:bodyPr>
          <a:lstStyle/>
          <a:p>
            <a:r>
              <a:rPr lang="ru-RU" b="1" dirty="0"/>
              <a:t>Виды связей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73F70B-76E4-4E56-85CF-548E06AF98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9606" y="2175017"/>
            <a:ext cx="2746648" cy="3364107"/>
          </a:xfrm>
        </p:spPr>
        <p:txBody>
          <a:bodyPr>
            <a:normAutofit/>
          </a:bodyPr>
          <a:lstStyle/>
          <a:p>
            <a:r>
              <a:rPr lang="ru-RU" dirty="0"/>
              <a:t>Наследование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Ассоциация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Агрегация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20" name="Объект 19">
            <a:extLst>
              <a:ext uri="{FF2B5EF4-FFF2-40B4-BE49-F238E27FC236}">
                <a16:creationId xmlns:a16="http://schemas.microsoft.com/office/drawing/2014/main" id="{7B2C8B1C-EFDB-45EC-A99D-A53E3F6285C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530965" y="2158906"/>
            <a:ext cx="2600575" cy="3807296"/>
          </a:xfrm>
        </p:spPr>
        <p:txBody>
          <a:bodyPr>
            <a:normAutofit/>
          </a:bodyPr>
          <a:lstStyle/>
          <a:p>
            <a:r>
              <a:rPr lang="ru-RU" dirty="0"/>
              <a:t>Композиция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Реализация интерфейса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800" dirty="0"/>
          </a:p>
          <a:p>
            <a:r>
              <a:rPr lang="ru-RU" dirty="0"/>
              <a:t>Зависимость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04500D-0CDA-4300-9678-2855214D5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590" y="1906681"/>
            <a:ext cx="952500" cy="10096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BB028D-B7A7-4044-AFF3-D87370985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540" y="3266230"/>
            <a:ext cx="990600" cy="9525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841848-5114-4C72-9578-5DB32426D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5252" y="4568629"/>
            <a:ext cx="1019175" cy="9906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EE4CC75-3D58-4B8D-98D9-FDA8A4102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796" y="1823319"/>
            <a:ext cx="1104900" cy="9715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8B067CA-B037-4D63-BF28-15C39E22E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1828" y="3146567"/>
            <a:ext cx="952500" cy="10096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D89A7FF-9A6C-4134-82C4-6283E71D23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1828" y="4529474"/>
            <a:ext cx="952500" cy="1009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D574DC-00B8-4BE9-BCC6-EC2643986F3E}"/>
              </a:ext>
            </a:extLst>
          </p:cNvPr>
          <p:cNvSpPr txBox="1"/>
          <p:nvPr/>
        </p:nvSpPr>
        <p:spPr>
          <a:xfrm>
            <a:off x="323528" y="983079"/>
            <a:ext cx="8136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Open Sans" panose="020B0606030504020204" pitchFamily="34" charset="0"/>
              </a:rPr>
              <a:t>Тогда мы приходим к пониманию конкретного содержания классовых отношений.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143791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8BF86-4E43-4BAD-845A-24BBDFDD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02192E-D533-4FD1-A6AD-7F8607BDF7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1728192"/>
          </a:xfrm>
        </p:spPr>
        <p:txBody>
          <a:bodyPr>
            <a:normAutofit fontScale="85000" lnSpcReduction="20000"/>
          </a:bodyPr>
          <a:lstStyle/>
          <a:p>
            <a:r>
              <a:rPr lang="ru-RU" b="0" i="0" dirty="0">
                <a:effectLst/>
                <a:latin typeface="Open Sans" panose="020B0606030504020204" pitchFamily="34" charset="0"/>
              </a:rPr>
              <a:t>В отношениях наследования подкласс наследует все поля и методы родительского класса с возможностью добавлять новые поля и методы или переопределять существующие. </a:t>
            </a:r>
          </a:p>
          <a:p>
            <a:r>
              <a:rPr lang="ru-RU" b="0" i="0" dirty="0">
                <a:effectLst/>
                <a:latin typeface="Open Sans" panose="020B0606030504020204" pitchFamily="34" charset="0"/>
              </a:rPr>
              <a:t>Подкласс содержит дополнительную информацию и является более точным воплощением абстракции.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EB7EC4-CEFD-4C0B-B7AE-72D266918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672" y="3519651"/>
            <a:ext cx="5904656" cy="309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5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A3C73-005F-454B-A0F2-4E87CC6E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Реализация - внедрение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70DBF-376E-437B-BEBB-21D3BEB3548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8003232" cy="1828800"/>
          </a:xfrm>
        </p:spPr>
        <p:txBody>
          <a:bodyPr>
            <a:normAutofit fontScale="77500" lnSpcReduction="20000"/>
          </a:bodyPr>
          <a:lstStyle/>
          <a:p>
            <a:pPr algn="l" fontAlgn="base"/>
            <a:r>
              <a:rPr lang="ru-RU" b="1" dirty="0">
                <a:latin typeface="Open Sans" panose="020B0606030504020204" pitchFamily="34" charset="0"/>
              </a:rPr>
              <a:t>Интерфейс</a:t>
            </a:r>
            <a:r>
              <a:rPr lang="ru-RU" dirty="0">
                <a:latin typeface="Open Sans" panose="020B0606030504020204" pitchFamily="34" charset="0"/>
              </a:rPr>
              <a:t> (включая абстрактный класс ) — 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это набор методов. В отношениях реализации класс реализует интерфейс, а методы в классе реализуют все методы объявления интерфейса.</a:t>
            </a:r>
          </a:p>
          <a:p>
            <a:pPr algn="l" fontAlgn="base"/>
            <a:r>
              <a:rPr lang="ru-RU" b="1" i="0" dirty="0">
                <a:effectLst/>
                <a:latin typeface="Open Sans" panose="020B0606030504020204" pitchFamily="34" charset="0"/>
              </a:rPr>
              <a:t>Например: 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автомобили и корабли — это транспортные средства, а транспортное средство — всего лишь абстрактное понятие мобильного средства.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882580-AEBA-48D1-BF1A-8D0C8330B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7" y="3380119"/>
            <a:ext cx="6192688" cy="336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60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29C34-4E45-4B28-A815-747CD8B3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16632"/>
            <a:ext cx="7467600" cy="706090"/>
          </a:xfrm>
        </p:spPr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99685-14D9-4939-B58C-EE7A3F35A09F}"/>
              </a:ext>
            </a:extLst>
          </p:cNvPr>
          <p:cNvSpPr txBox="1"/>
          <p:nvPr/>
        </p:nvSpPr>
        <p:spPr>
          <a:xfrm>
            <a:off x="683568" y="868656"/>
            <a:ext cx="4680520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car_number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Run() {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Bus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Car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count_passengers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Run() {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C40506-B24F-4EE1-800E-6B74DC935D40}"/>
              </a:ext>
            </a:extLst>
          </p:cNvPr>
          <p:cNvSpPr txBox="1"/>
          <p:nvPr/>
        </p:nvSpPr>
        <p:spPr>
          <a:xfrm>
            <a:off x="467544" y="3527132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cap="small" dirty="0">
                <a:solidFill>
                  <a:srgbClr val="04617B"/>
                </a:solidFill>
                <a:latin typeface="Century Schoolbook"/>
                <a:ea typeface="+mj-ea"/>
                <a:cs typeface="+mj-cs"/>
              </a:rPr>
              <a:t>Реализация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9737A-8F4F-46CE-9A6A-8E1083231672}"/>
              </a:ext>
            </a:extLst>
          </p:cNvPr>
          <p:cNvSpPr txBox="1"/>
          <p:nvPr/>
        </p:nvSpPr>
        <p:spPr>
          <a:xfrm>
            <a:off x="652711" y="4259679"/>
            <a:ext cx="4711377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Vehicle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Run();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Vehicle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car_number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count_ passengers;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Run() {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948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09D6A1-AB24-4768-9E02-46E82E723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07" y="4097871"/>
            <a:ext cx="7017993" cy="27155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1271F-1027-4826-8E7F-C679A7F7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ru-RU" dirty="0"/>
              <a:t>Агрегация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F9C6C7-D78D-4BAA-B536-BA1D4FE9D16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12403"/>
            <a:ext cx="7859216" cy="3136677"/>
          </a:xfrm>
        </p:spPr>
        <p:txBody>
          <a:bodyPr>
            <a:normAutofit fontScale="85000" lnSpcReduction="10000"/>
          </a:bodyPr>
          <a:lstStyle/>
          <a:p>
            <a:pPr algn="l" fontAlgn="base"/>
            <a:r>
              <a:rPr lang="ru-RU" b="0" i="0" dirty="0">
                <a:effectLst/>
                <a:latin typeface="Open Sans" panose="020B0606030504020204" pitchFamily="34" charset="0"/>
              </a:rPr>
              <a:t>Агрегация: </a:t>
            </a:r>
            <a:r>
              <a:rPr lang="ru-RU" b="1" i="0" dirty="0">
                <a:effectLst/>
                <a:latin typeface="inherit"/>
              </a:rPr>
              <a:t>отношения между целым и частью, а также целым и частью могут быть разделены.</a:t>
            </a:r>
            <a:endParaRPr lang="ru-RU" b="0" i="0" dirty="0">
              <a:effectLst/>
              <a:latin typeface="Open Sans" panose="020B0606030504020204" pitchFamily="34" charset="0"/>
            </a:endParaRPr>
          </a:p>
          <a:p>
            <a:pPr algn="l" fontAlgn="base"/>
            <a:r>
              <a:rPr lang="ru-RU" b="0" i="0" dirty="0">
                <a:effectLst/>
                <a:latin typeface="Open Sans" panose="020B0606030504020204" pitchFamily="34" charset="0"/>
              </a:rPr>
              <a:t>Агрегатные отношения также представляют отношения между целым и частью класса, объекты-члены являются частью общего объекта, но объект-член может существовать независимо от общего объекта.</a:t>
            </a:r>
          </a:p>
          <a:p>
            <a:pPr algn="l" fontAlgn="base"/>
            <a:r>
              <a:rPr lang="ru-RU" b="1" i="0" dirty="0">
                <a:effectLst/>
                <a:latin typeface="Open Sans" panose="020B0606030504020204" pitchFamily="34" charset="0"/>
              </a:rPr>
              <a:t>Например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, водители автобусов, рабочая одежда и головные уборы являются частью общих отношений, но их можно разделить. Рабочую одежду и головные уборы можно надевать на других водителей.</a:t>
            </a:r>
          </a:p>
        </p:txBody>
      </p:sp>
    </p:spTree>
    <p:extLst>
      <p:ext uri="{BB962C8B-B14F-4D97-AF65-F5344CB8AC3E}">
        <p14:creationId xmlns:p14="http://schemas.microsoft.com/office/powerpoint/2010/main" val="1873503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ED74D4-7A58-4221-941D-BA707645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149080"/>
            <a:ext cx="6108948" cy="253172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C3559-F8BB-47BA-8E1F-F3877A94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Композиция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0FC5C5-11F6-49C3-AF68-359CCBB6E35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3776" y="1247874"/>
            <a:ext cx="8006655" cy="2352674"/>
          </a:xfrm>
        </p:spPr>
        <p:txBody>
          <a:bodyPr>
            <a:normAutofit fontScale="77500" lnSpcReduction="20000"/>
          </a:bodyPr>
          <a:lstStyle/>
          <a:p>
            <a:pPr algn="l" fontAlgn="base"/>
            <a:r>
              <a:rPr lang="ru-RU" b="0" i="0" dirty="0">
                <a:effectLst/>
                <a:latin typeface="Open Sans" panose="020B0606030504020204" pitchFamily="34" charset="0"/>
              </a:rPr>
              <a:t>Композиция: </a:t>
            </a:r>
            <a:r>
              <a:rPr lang="ru-RU" b="1" dirty="0">
                <a:latin typeface="inherit"/>
              </a:rPr>
              <a:t>о</a:t>
            </a:r>
            <a:r>
              <a:rPr lang="ru-RU" b="1" i="0" dirty="0">
                <a:effectLst/>
                <a:latin typeface="inherit"/>
              </a:rPr>
              <a:t>тношения между целым и частью, но целое и часть не могут быть разделены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 .</a:t>
            </a:r>
          </a:p>
          <a:p>
            <a:pPr algn="l" fontAlgn="base"/>
            <a:r>
              <a:rPr lang="ru-RU" b="0" i="0" dirty="0">
                <a:effectLst/>
                <a:latin typeface="Open Sans" panose="020B0606030504020204" pitchFamily="34" charset="0"/>
              </a:rPr>
              <a:t>Комбинированное отношение представляет собой отношение между целым и частью класса, а общее и часть имеют согласованное время жизни. Как только объект в целом перестанет существовать, то и объекты-части не будут существовать. </a:t>
            </a:r>
          </a:p>
          <a:p>
            <a:pPr algn="l" fontAlgn="base"/>
            <a:r>
              <a:rPr lang="ru-RU" b="1" i="0" dirty="0">
                <a:effectLst/>
                <a:latin typeface="Open Sans" panose="020B0606030504020204" pitchFamily="34" charset="0"/>
              </a:rPr>
              <a:t>Например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, человек состоит из головы и тела. Они неразделимы и сосуществуют</a:t>
            </a:r>
            <a:r>
              <a:rPr lang="ru-RU" dirty="0">
                <a:latin typeface="Open Sans" panose="020B0606030504020204" pitchFamily="34" charset="0"/>
              </a:rPr>
              <a:t>, а уничтожаются одновременно.</a:t>
            </a:r>
            <a:endParaRPr lang="ru-RU" b="0" i="0" dirty="0">
              <a:effectLst/>
              <a:latin typeface="Open Sans" panose="020B0606030504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9627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61E08-D4BB-4EEE-B1EA-0EE8B7C4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332656"/>
            <a:ext cx="2808312" cy="553997"/>
          </a:xfrm>
        </p:spPr>
        <p:txBody>
          <a:bodyPr>
            <a:normAutofit/>
          </a:bodyPr>
          <a:lstStyle/>
          <a:p>
            <a:r>
              <a:rPr lang="ru-RU" dirty="0"/>
              <a:t>Агрегация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4F74F-7C2D-4F40-9B14-BAD5EA7C9ADA}"/>
              </a:ext>
            </a:extLst>
          </p:cNvPr>
          <p:cNvSpPr txBox="1"/>
          <p:nvPr/>
        </p:nvSpPr>
        <p:spPr>
          <a:xfrm>
            <a:off x="4716016" y="978247"/>
            <a:ext cx="3636403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Engine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 }</a:t>
            </a:r>
          </a:p>
          <a:p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Engine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engine;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Car()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engine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Engine();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FCC8D-E2FF-41B5-A008-3D5E8EA6993D}"/>
              </a:ext>
            </a:extLst>
          </p:cNvPr>
          <p:cNvSpPr txBox="1"/>
          <p:nvPr/>
        </p:nvSpPr>
        <p:spPr>
          <a:xfrm>
            <a:off x="4932040" y="332655"/>
            <a:ext cx="28083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000" b="0" i="0" u="none" strike="noStrike" kern="1200" cap="small" spc="0" normalizeH="0" baseline="0" noProof="0" dirty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Century Schoolbook"/>
                <a:ea typeface="+mj-ea"/>
                <a:cs typeface="+mj-cs"/>
              </a:rPr>
              <a:t>Композиция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FED34-4FDA-4CDF-8E67-A2BA641621C4}"/>
              </a:ext>
            </a:extLst>
          </p:cNvPr>
          <p:cNvSpPr txBox="1"/>
          <p:nvPr/>
        </p:nvSpPr>
        <p:spPr>
          <a:xfrm>
            <a:off x="395536" y="966787"/>
            <a:ext cx="3636402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Engine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 }</a:t>
            </a:r>
          </a:p>
          <a:p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Engine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engine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Car(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Engine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engine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726DD-0BDE-4A30-91D0-4355A55B09B9}"/>
              </a:ext>
            </a:extLst>
          </p:cNvPr>
          <p:cNvSpPr txBox="1"/>
          <p:nvPr/>
        </p:nvSpPr>
        <p:spPr>
          <a:xfrm>
            <a:off x="4428230" y="3554989"/>
            <a:ext cx="42119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При композиции класс автомобиля полностью управляет жизненным циклом объекта двигателя.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При уничтожении объекта автомобиля в области памяти вместе с ним будет уничтожен и объект двигателя.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Объект автомобиля является </a:t>
            </a:r>
            <a:br>
              <a:rPr lang="ru-RU" dirty="0"/>
            </a:br>
            <a:r>
              <a:rPr lang="ru-RU" dirty="0"/>
              <a:t>главным, а объект двигателя - зависимым.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D8CD2C-147C-4292-95A6-8A6A01F52D0E}"/>
              </a:ext>
            </a:extLst>
          </p:cNvPr>
          <p:cNvSpPr txBox="1"/>
          <p:nvPr/>
        </p:nvSpPr>
        <p:spPr>
          <a:xfrm>
            <a:off x="197513" y="3509134"/>
            <a:ext cx="40324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При агрегации реализуется слабая связь, то есть в данном случае объекты Car и Engine будут равноправны.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В конструктор Car передается ссылка на уже имеющийся объект Engine.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Как правило, определяется ссылка не на конкретный класс, а на абстрактный класс или интерфейс, что увеличивает гибкость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099132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0AA129-3CCD-47CB-A760-B621FB88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Ассоциация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4977D1-0765-4EF8-AB0F-7C4A1808C7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6828" y="1211870"/>
            <a:ext cx="7931596" cy="2505162"/>
          </a:xfrm>
        </p:spPr>
        <p:txBody>
          <a:bodyPr>
            <a:normAutofit fontScale="85000" lnSpcReduction="10000"/>
          </a:bodyPr>
          <a:lstStyle/>
          <a:p>
            <a:pPr algn="l" fontAlgn="base"/>
            <a:r>
              <a:rPr lang="ru-RU" b="0" i="0" dirty="0">
                <a:effectLst/>
                <a:latin typeface="Open Sans" panose="020B0606030504020204" pitchFamily="34" charset="0"/>
              </a:rPr>
              <a:t>Ассоциация: указывает, что </a:t>
            </a:r>
            <a:r>
              <a:rPr lang="ru-RU" b="1" i="0" dirty="0">
                <a:effectLst/>
                <a:latin typeface="inherit"/>
              </a:rPr>
              <a:t>свойство класса содержит ссылку на экземпляр (или экземпляры) другого класса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 .</a:t>
            </a:r>
          </a:p>
          <a:p>
            <a:pPr algn="l" fontAlgn="base"/>
            <a:r>
              <a:rPr lang="ru-RU" b="0" i="0" dirty="0">
                <a:effectLst/>
                <a:latin typeface="Open Sans" panose="020B0606030504020204" pitchFamily="34" charset="0"/>
              </a:rPr>
              <a:t>Ассоциация — это </a:t>
            </a:r>
            <a:r>
              <a:rPr lang="ru-RU" dirty="0">
                <a:latin typeface="Open Sans" panose="020B0606030504020204" pitchFamily="34" charset="0"/>
              </a:rPr>
              <a:t>наиболее часто используемая 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связь между классом и классом, что означает наличие связи между одним типом объекта и другим типом объекта.</a:t>
            </a:r>
          </a:p>
          <a:p>
            <a:pPr algn="l" fontAlgn="base"/>
            <a:r>
              <a:rPr lang="ru-RU" b="1" i="0" dirty="0">
                <a:effectLst/>
                <a:latin typeface="Open Sans" panose="020B0606030504020204" pitchFamily="34" charset="0"/>
              </a:rPr>
              <a:t>Например: 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машины и водители, одна машина соответствует конкретному водителю, а один водитель может управлять несколькими машинами.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A6D746-4935-42B4-A2C0-181C313C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28" y="4211701"/>
            <a:ext cx="8129434" cy="142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81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ru-RU" b="1" dirty="0"/>
              <a:t>Ассоциации классов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5" t="12021" r="25301" b="13087"/>
          <a:stretch/>
        </p:blipFill>
        <p:spPr bwMode="auto">
          <a:xfrm>
            <a:off x="395536" y="1052736"/>
            <a:ext cx="6624736" cy="563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3761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6E06E-65D6-4ADE-B14F-A72E39C66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Зависимость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A09C5-CE1B-4E4C-A058-8E794EA912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1779" y="1196752"/>
            <a:ext cx="7931224" cy="3168352"/>
          </a:xfrm>
        </p:spPr>
        <p:txBody>
          <a:bodyPr>
            <a:normAutofit fontScale="70000" lnSpcReduction="20000"/>
          </a:bodyPr>
          <a:lstStyle/>
          <a:p>
            <a:pPr algn="l" fontAlgn="base"/>
            <a:r>
              <a:rPr lang="ru-RU" b="1" i="0" dirty="0">
                <a:effectLst/>
                <a:latin typeface="Open Sans" panose="020B0606030504020204" pitchFamily="34" charset="0"/>
              </a:rPr>
              <a:t>Зависимость: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 предположим, что изменение в классе А вызывает изменение в классе В, тогда скажем, что класс В зависит от класса А.</a:t>
            </a:r>
          </a:p>
          <a:p>
            <a:pPr algn="l" fontAlgn="base"/>
            <a:r>
              <a:rPr lang="ru-RU" b="0" i="0" dirty="0">
                <a:effectLst/>
                <a:latin typeface="Open Sans" panose="020B0606030504020204" pitchFamily="34" charset="0"/>
              </a:rPr>
              <a:t>В большинстве случаев </a:t>
            </a:r>
            <a:r>
              <a:rPr lang="ru-RU" b="1" i="0" dirty="0">
                <a:effectLst/>
                <a:latin typeface="inherit"/>
              </a:rPr>
              <a:t>зависимости отражаются в методах класса, использующих в качестве параметра объект другого класса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 .</a:t>
            </a:r>
          </a:p>
          <a:p>
            <a:pPr algn="l" fontAlgn="base"/>
            <a:r>
              <a:rPr lang="ru-RU" b="0" i="0" dirty="0">
                <a:effectLst/>
                <a:latin typeface="Open Sans" panose="020B0606030504020204" pitchFamily="34" charset="0"/>
              </a:rPr>
              <a:t>Отношение зависимости — это отношение «использования». Изменение в конкретной вещи может повлиять на другие вещи, когда необходимо указать, что одна вещь использует другую. </a:t>
            </a:r>
          </a:p>
          <a:p>
            <a:pPr marL="0" indent="0" algn="l" fontAlgn="base">
              <a:buNone/>
            </a:pPr>
            <a:endParaRPr lang="ru-RU" b="1" i="0" dirty="0">
              <a:effectLst/>
              <a:latin typeface="Open Sans" panose="020B0606030504020204" pitchFamily="34" charset="0"/>
            </a:endParaRPr>
          </a:p>
          <a:p>
            <a:pPr marL="0" indent="0" algn="l" fontAlgn="base">
              <a:buNone/>
            </a:pPr>
            <a:r>
              <a:rPr lang="ru-RU" b="1" i="0" dirty="0">
                <a:effectLst/>
                <a:latin typeface="Open Sans" panose="020B0606030504020204" pitchFamily="34" charset="0"/>
              </a:rPr>
              <a:t>Например: 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Автомобиль работает на бензине. Если нет бензина, машина не сможет ехать.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7DEE74-0F08-47C7-9568-9F659AE3C8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535"/>
          <a:stretch/>
        </p:blipFill>
        <p:spPr>
          <a:xfrm>
            <a:off x="487147" y="4869160"/>
            <a:ext cx="7800487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3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61E08-D4BB-4EEE-B1EA-0EE8B7C4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12" y="281556"/>
            <a:ext cx="2808312" cy="553997"/>
          </a:xfrm>
        </p:spPr>
        <p:txBody>
          <a:bodyPr>
            <a:normAutofit/>
          </a:bodyPr>
          <a:lstStyle/>
          <a:p>
            <a:r>
              <a:rPr lang="ru-RU" dirty="0"/>
              <a:t>Ассоциация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4F74F-7C2D-4F40-9B14-BAD5EA7C9ADA}"/>
              </a:ext>
            </a:extLst>
          </p:cNvPr>
          <p:cNvSpPr txBox="1"/>
          <p:nvPr/>
        </p:nvSpPr>
        <p:spPr>
          <a:xfrm>
            <a:off x="712912" y="949706"/>
            <a:ext cx="6433415" cy="24622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Driver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 cars;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AddCar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car) {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Driver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driver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SetDriver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Driver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driver) {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FCC8D-E2FF-41B5-A008-3D5E8EA6993D}"/>
              </a:ext>
            </a:extLst>
          </p:cNvPr>
          <p:cNvSpPr txBox="1"/>
          <p:nvPr/>
        </p:nvSpPr>
        <p:spPr>
          <a:xfrm>
            <a:off x="712912" y="3687998"/>
            <a:ext cx="28083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000" b="0" i="0" u="none" strike="noStrike" kern="1200" cap="small" spc="0" normalizeH="0" baseline="0" noProof="0" dirty="0">
                <a:ln>
                  <a:noFill/>
                </a:ln>
                <a:solidFill>
                  <a:srgbClr val="04617B"/>
                </a:solidFill>
                <a:effectLst/>
                <a:uLnTx/>
                <a:uFillTx/>
                <a:latin typeface="Century Schoolbook"/>
                <a:ea typeface="+mj-ea"/>
                <a:cs typeface="+mj-cs"/>
              </a:rPr>
              <a:t>Зависимость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FED34-4FDA-4CDF-8E67-A2BA641621C4}"/>
              </a:ext>
            </a:extLst>
          </p:cNvPr>
          <p:cNvSpPr txBox="1"/>
          <p:nvPr/>
        </p:nvSpPr>
        <p:spPr>
          <a:xfrm>
            <a:off x="712912" y="4437112"/>
            <a:ext cx="6433415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BeforeRun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(Oil oil) {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Oil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type;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Add() {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984224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C51F0-8762-49A3-BD65-B1C73B32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715200" cy="778098"/>
          </a:xfrm>
        </p:spPr>
        <p:txBody>
          <a:bodyPr/>
          <a:lstStyle/>
          <a:p>
            <a:r>
              <a:rPr lang="ru-RU" dirty="0"/>
              <a:t>Проектирование диаграммы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4843A8-7FE1-4990-94E8-F51902AA49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23528" y="1268760"/>
            <a:ext cx="7715200" cy="487375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При проектировании отношений между классами надо учитывать некоторые общие рекомендации: </a:t>
            </a:r>
          </a:p>
          <a:p>
            <a:r>
              <a:rPr lang="ru-RU" dirty="0"/>
              <a:t>В частности, вместо </a:t>
            </a:r>
            <a:r>
              <a:rPr lang="ru-RU" b="1" dirty="0"/>
              <a:t>наследования</a:t>
            </a:r>
            <a:r>
              <a:rPr lang="ru-RU" dirty="0"/>
              <a:t> следует предпочитать </a:t>
            </a:r>
            <a:r>
              <a:rPr lang="ru-RU" b="1" dirty="0"/>
              <a:t>композицию</a:t>
            </a:r>
            <a:r>
              <a:rPr lang="ru-RU" dirty="0"/>
              <a:t>. </a:t>
            </a:r>
          </a:p>
          <a:p>
            <a:r>
              <a:rPr lang="ru-RU" dirty="0"/>
              <a:t>При наследовании весь функционал класса-наследника жестко определен на этапе компиляции. И во время выполнения программы мы не можем его динамически переопределить. А класс-наследник не всегда может переопределить код, который определен в родительском классе. Композиция же позволяет динамически определять поведение объекта во время выполнения, и поэтому является более гибкой.</a:t>
            </a:r>
          </a:p>
          <a:p>
            <a:r>
              <a:rPr lang="ru-RU" dirty="0"/>
              <a:t>Вместо </a:t>
            </a:r>
            <a:r>
              <a:rPr lang="ru-RU" b="1" dirty="0"/>
              <a:t>композиции</a:t>
            </a:r>
            <a:r>
              <a:rPr lang="ru-RU" dirty="0"/>
              <a:t> следует предпочитать </a:t>
            </a:r>
            <a:r>
              <a:rPr lang="ru-RU" b="1" dirty="0"/>
              <a:t>агрегацию</a:t>
            </a:r>
            <a:r>
              <a:rPr lang="ru-RU" dirty="0"/>
              <a:t>, как более гибкий способ связи компонентов. В то же время не всегда агрегация уместна.</a:t>
            </a:r>
          </a:p>
        </p:txBody>
      </p:sp>
    </p:spTree>
    <p:extLst>
      <p:ext uri="{BB962C8B-B14F-4D97-AF65-F5344CB8AC3E}">
        <p14:creationId xmlns:p14="http://schemas.microsoft.com/office/powerpoint/2010/main" val="3761256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40F00B-8A02-4D12-B474-85D39DC02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1" y="1642626"/>
            <a:ext cx="7830875" cy="5215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FE5F01-C043-4C5F-A1BB-1314DA86AF3E}"/>
              </a:ext>
            </a:extLst>
          </p:cNvPr>
          <p:cNvSpPr txBox="1"/>
          <p:nvPr/>
        </p:nvSpPr>
        <p:spPr>
          <a:xfrm>
            <a:off x="308975" y="188640"/>
            <a:ext cx="79354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b="0" i="0" dirty="0">
                <a:effectLst/>
                <a:latin typeface="Open Sans" panose="020B0606030504020204" pitchFamily="34" charset="0"/>
              </a:rPr>
              <a:t>Диаграмма классов моделирует заказ клиента из розничного каталога. Центральным классом является </a:t>
            </a:r>
            <a:r>
              <a:rPr lang="ru-RU" b="1" dirty="0">
                <a:latin typeface="Open Sans" panose="020B0606030504020204" pitchFamily="34" charset="0"/>
              </a:rPr>
              <a:t>Заказ (</a:t>
            </a:r>
            <a:r>
              <a:rPr lang="en-US" b="1" dirty="0">
                <a:latin typeface="Open Sans" panose="020B0606030504020204" pitchFamily="34" charset="0"/>
              </a:rPr>
              <a:t>Order)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 . 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b="0" i="0" dirty="0">
                <a:effectLst/>
                <a:latin typeface="Open Sans" panose="020B0606030504020204" pitchFamily="34" charset="0"/>
              </a:rPr>
              <a:t>С ним связаны </a:t>
            </a:r>
            <a:r>
              <a:rPr lang="ru-RU" b="1" i="0" dirty="0">
                <a:effectLst/>
                <a:latin typeface="Open Sans" panose="020B0606030504020204" pitchFamily="34" charset="0"/>
              </a:rPr>
              <a:t>Клиент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 , совершающий покупку, и </a:t>
            </a:r>
            <a:r>
              <a:rPr lang="ru-RU" b="1" i="0" dirty="0">
                <a:effectLst/>
                <a:latin typeface="Open Sans" panose="020B0606030504020204" pitchFamily="34" charset="0"/>
              </a:rPr>
              <a:t>Платеж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 . </a:t>
            </a:r>
            <a:endParaRPr lang="en-US" b="0" i="0" dirty="0">
              <a:effectLst/>
              <a:latin typeface="Open Sans" panose="020B0606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b="0" i="0" dirty="0">
                <a:effectLst/>
                <a:latin typeface="Open Sans" panose="020B0606030504020204" pitchFamily="34" charset="0"/>
              </a:rPr>
              <a:t>Оплата </a:t>
            </a:r>
            <a:r>
              <a:rPr lang="ru-RU" b="1" i="0" dirty="0">
                <a:effectLst/>
                <a:latin typeface="Open Sans" panose="020B0606030504020204" pitchFamily="34" charset="0"/>
              </a:rPr>
              <a:t>может</a:t>
            </a:r>
            <a:r>
              <a:rPr lang="ru-RU" b="0" i="0" dirty="0">
                <a:effectLst/>
                <a:latin typeface="Open Sans" panose="020B0606030504020204" pitchFamily="34" charset="0"/>
              </a:rPr>
              <a:t> быть одного из четырех видов: </a:t>
            </a:r>
            <a:r>
              <a:rPr lang="ru-RU" i="0" dirty="0">
                <a:effectLst/>
                <a:latin typeface="Open Sans" panose="020B0606030504020204" pitchFamily="34" charset="0"/>
              </a:rPr>
              <a:t>наличные, чек,</a:t>
            </a:r>
            <a:br>
              <a:rPr lang="en-US" i="0" dirty="0">
                <a:effectLst/>
                <a:latin typeface="Open Sans" panose="020B0606030504020204" pitchFamily="34" charset="0"/>
              </a:rPr>
            </a:br>
            <a:r>
              <a:rPr lang="ru-RU" i="0" dirty="0">
                <a:effectLst/>
                <a:latin typeface="Open Sans" panose="020B0606030504020204" pitchFamily="34" charset="0"/>
              </a:rPr>
              <a:t> кредит или банковский перевод 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060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706090"/>
          </a:xfrm>
        </p:spPr>
        <p:txBody>
          <a:bodyPr/>
          <a:lstStyle/>
          <a:p>
            <a:r>
              <a:rPr lang="ru-RU" b="1" i="1" dirty="0"/>
              <a:t>Диаграмма объектов (</a:t>
            </a:r>
            <a:r>
              <a:rPr lang="ru-RU" b="1" i="1" dirty="0" err="1">
                <a:solidFill>
                  <a:schemeClr val="tx1"/>
                </a:solidFill>
              </a:rPr>
              <a:t>object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b="1" i="1" dirty="0" err="1">
                <a:solidFill>
                  <a:schemeClr val="tx1"/>
                </a:solidFill>
              </a:rPr>
              <a:t>diagram</a:t>
            </a:r>
            <a:r>
              <a:rPr lang="ru-RU" b="1" i="1" dirty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23528" y="1191880"/>
            <a:ext cx="8003232" cy="5400600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dirty="0"/>
              <a:t>Диаграмма объектов </a:t>
            </a:r>
            <a:r>
              <a:rPr lang="ru-RU" dirty="0"/>
              <a:t>- это структурная диаграмма, которая показывает объекты, их атрибуты и взаимосвязи с другими объектами.</a:t>
            </a:r>
          </a:p>
          <a:p>
            <a:pPr algn="l"/>
            <a:r>
              <a:rPr lang="ru-RU" b="1" dirty="0"/>
              <a:t>Объект</a:t>
            </a:r>
            <a:r>
              <a:rPr lang="ru-RU" dirty="0"/>
              <a:t> - это экземпляр класса в определенный момент времени выполнения, который может иметь свое собственное состояние и значения данных.</a:t>
            </a:r>
          </a:p>
          <a:p>
            <a:pPr algn="l"/>
            <a:r>
              <a:rPr lang="ru-RU" dirty="0"/>
              <a:t>Диаграмма объектов UML является экземпляром диаграммы классов, она показывает моментальный снимок подробного состояния системы в определенный момент времени.</a:t>
            </a:r>
          </a:p>
          <a:p>
            <a:pPr marL="0" indent="0" algn="l">
              <a:buNone/>
            </a:pPr>
            <a:endParaRPr lang="ru-RU" dirty="0"/>
          </a:p>
          <a:p>
            <a:pPr marL="0" indent="0" algn="l">
              <a:buNone/>
            </a:pPr>
            <a:r>
              <a:rPr lang="ru-RU" dirty="0"/>
              <a:t>Таким образом, можно сказать, что диаграмма объектов является </a:t>
            </a:r>
            <a:r>
              <a:rPr lang="ru-RU" i="1" dirty="0"/>
              <a:t>частным случаем диаграммы классов</a:t>
            </a:r>
            <a:r>
              <a:rPr lang="ru-RU" dirty="0"/>
              <a:t>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19CB4C-8865-4B94-B287-2D8B0087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268760"/>
            <a:ext cx="6438900" cy="3771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D6231A-790A-48B2-834F-F946083B3312}"/>
              </a:ext>
            </a:extLst>
          </p:cNvPr>
          <p:cNvSpPr txBox="1"/>
          <p:nvPr/>
        </p:nvSpPr>
        <p:spPr>
          <a:xfrm>
            <a:off x="1352550" y="5373216"/>
            <a:ext cx="6315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– </a:t>
            </a:r>
            <a:r>
              <a:rPr lang="ru-RU" dirty="0"/>
              <a:t>объекты</a:t>
            </a:r>
          </a:p>
          <a:p>
            <a:r>
              <a:rPr lang="ru-RU" dirty="0"/>
              <a:t>2 – связи (ассоциации)</a:t>
            </a:r>
          </a:p>
        </p:txBody>
      </p:sp>
    </p:spTree>
    <p:extLst>
      <p:ext uri="{BB962C8B-B14F-4D97-AF65-F5344CB8AC3E}">
        <p14:creationId xmlns:p14="http://schemas.microsoft.com/office/powerpoint/2010/main" val="40072137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5C5DD0-4B1C-4815-9DCB-AA26DAE0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412776"/>
            <a:ext cx="6768752" cy="326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806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C0D4B0-CFA8-45FE-ABD2-FC12FFE7C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268760"/>
            <a:ext cx="5258544" cy="383646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bstudy.net/htm/img/18/14586/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92696"/>
            <a:ext cx="6419442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Диаграмма последовательностей (</a:t>
            </a:r>
            <a:r>
              <a:rPr lang="ru-RU" b="1" i="1" dirty="0" err="1">
                <a:solidFill>
                  <a:schemeClr val="tx1"/>
                </a:solidFill>
              </a:rPr>
              <a:t>sequence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b="1" i="1" dirty="0" err="1">
                <a:solidFill>
                  <a:schemeClr val="tx1"/>
                </a:solidFill>
              </a:rPr>
              <a:t>diagram</a:t>
            </a:r>
            <a:r>
              <a:rPr lang="ru-RU" b="1" i="1" dirty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700808"/>
            <a:ext cx="7931224" cy="4773144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В UML взаимодействие объектов понимается как обмен информацией между ними. При этом информация принимает вид сообщений. Кроме того, </a:t>
            </a:r>
            <a:r>
              <a:rPr lang="ru-RU" i="1" dirty="0"/>
              <a:t>что сообщение несет какую-то информацию, оно некоторым образом также влияет на получателя</a:t>
            </a:r>
            <a:r>
              <a:rPr lang="ru-RU" dirty="0"/>
              <a:t>. </a:t>
            </a:r>
          </a:p>
          <a:p>
            <a:pPr algn="just"/>
            <a:r>
              <a:rPr lang="ru-RU" i="1" dirty="0"/>
              <a:t>Диаграмма последовательностей</a:t>
            </a:r>
            <a:r>
              <a:rPr lang="ru-RU" dirty="0"/>
              <a:t> относится к диаграммам взаимодействия UML, описывающим поведенческие аспекты системы, но </a:t>
            </a:r>
            <a:r>
              <a:rPr lang="ru-RU" i="1" dirty="0"/>
              <a:t>рассматривает взаимодействие объектов во времени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cf.ppt-online.org/files/slide/8/8N6DdjGykQixR7sYKlLnpFOqZgCeozfthAaWIV/slide-6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50"/>
          <a:stretch/>
        </p:blipFill>
        <p:spPr bwMode="auto">
          <a:xfrm>
            <a:off x="539552" y="1556792"/>
            <a:ext cx="7488832" cy="434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3232" cy="85010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Графические элементы диаграммы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9799026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E91C9-BFA2-491B-AAD7-45CA1FA2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</p:spPr>
        <p:txBody>
          <a:bodyPr/>
          <a:lstStyle/>
          <a:p>
            <a:r>
              <a:rPr lang="ru-RU" dirty="0"/>
              <a:t>Типы объектов диаграммы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78F4CD-7E78-4B8A-9ABF-559B1F257C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2"/>
          <a:stretch/>
        </p:blipFill>
        <p:spPr>
          <a:xfrm>
            <a:off x="395536" y="894730"/>
            <a:ext cx="8352928" cy="15841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355EAF-5C7D-460E-8A35-05070ECE930A}"/>
              </a:ext>
            </a:extLst>
          </p:cNvPr>
          <p:cNvSpPr txBox="1"/>
          <p:nvPr/>
        </p:nvSpPr>
        <p:spPr>
          <a:xfrm>
            <a:off x="755576" y="2771321"/>
            <a:ext cx="74168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P</a:t>
            </a:r>
            <a:r>
              <a:rPr lang="ru-RU" sz="2400" b="1" dirty="0" err="1">
                <a:solidFill>
                  <a:srgbClr val="333333"/>
                </a:solidFill>
                <a:latin typeface="-apple-system"/>
              </a:rPr>
              <a:t>articipant</a:t>
            </a:r>
            <a:r>
              <a:rPr lang="ru-RU" sz="2400" dirty="0">
                <a:solidFill>
                  <a:srgbClr val="333333"/>
                </a:solidFill>
                <a:latin typeface="-apple-system"/>
              </a:rPr>
              <a:t> </a:t>
            </a:r>
            <a:r>
              <a:rPr lang="en-US" sz="24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ru-RU" sz="2400" dirty="0">
                <a:solidFill>
                  <a:srgbClr val="333333"/>
                </a:solidFill>
                <a:latin typeface="-apple-system"/>
              </a:rPr>
              <a:t> сервер, компонент системы;</a:t>
            </a:r>
          </a:p>
          <a:p>
            <a:pPr algn="l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A</a:t>
            </a:r>
            <a:r>
              <a:rPr lang="ru-RU" sz="2400" b="1" i="0" dirty="0" err="1">
                <a:solidFill>
                  <a:srgbClr val="333333"/>
                </a:solidFill>
                <a:effectLst/>
                <a:latin typeface="-apple-system"/>
              </a:rPr>
              <a:t>ctor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en-US" sz="24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 пользователь или «клиент»;</a:t>
            </a:r>
          </a:p>
          <a:p>
            <a:pPr algn="l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Boundary</a:t>
            </a:r>
            <a:r>
              <a:rPr lang="en-US" sz="2400" dirty="0">
                <a:solidFill>
                  <a:srgbClr val="333333"/>
                </a:solidFill>
                <a:latin typeface="-apple-system"/>
              </a:rPr>
              <a:t> - </a:t>
            </a:r>
            <a:r>
              <a:rPr lang="ru-RU" sz="2400" b="0" i="0" dirty="0">
                <a:solidFill>
                  <a:srgbClr val="404243"/>
                </a:solidFill>
                <a:effectLst/>
                <a:latin typeface="Inter"/>
              </a:rPr>
              <a:t>системная граница/программный элемент в системе;</a:t>
            </a:r>
            <a:endParaRPr lang="en-US" sz="2400" dirty="0">
              <a:solidFill>
                <a:srgbClr val="333333"/>
              </a:solidFill>
              <a:latin typeface="-apple-system"/>
            </a:endParaRPr>
          </a:p>
          <a:p>
            <a:pPr algn="l"/>
            <a:r>
              <a:rPr lang="en-US" sz="2400" b="1" i="0" dirty="0">
                <a:solidFill>
                  <a:srgbClr val="333333"/>
                </a:solidFill>
                <a:effectLst/>
                <a:latin typeface="-apple-system"/>
              </a:rPr>
              <a:t>Control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-apple-system"/>
              </a:rPr>
              <a:t>-</a:t>
            </a:r>
            <a:r>
              <a:rPr lang="ru-RU" sz="2400" b="0" i="0" dirty="0">
                <a:solidFill>
                  <a:srgbClr val="404243"/>
                </a:solidFill>
                <a:effectLst/>
                <a:latin typeface="Inter"/>
              </a:rPr>
              <a:t> контролирующая организация или менеджер в системе;</a:t>
            </a:r>
            <a:endParaRPr lang="en-US" sz="24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Entity </a:t>
            </a:r>
            <a:r>
              <a:rPr lang="en-US" sz="24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ru-RU" sz="2400" b="0" i="0" dirty="0">
                <a:solidFill>
                  <a:srgbClr val="404243"/>
                </a:solidFill>
                <a:effectLst/>
                <a:latin typeface="Inter"/>
              </a:rPr>
              <a:t> системные данные;</a:t>
            </a:r>
            <a:endParaRPr lang="ru-RU" sz="24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D</a:t>
            </a:r>
            <a:r>
              <a:rPr lang="ru-RU" sz="2400" b="1" i="0" dirty="0" err="1">
                <a:solidFill>
                  <a:srgbClr val="333333"/>
                </a:solidFill>
                <a:effectLst/>
                <a:latin typeface="-apple-system"/>
              </a:rPr>
              <a:t>atabase</a:t>
            </a: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ru-RU" sz="24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 база данных;</a:t>
            </a:r>
            <a:endParaRPr lang="en-US" sz="24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Collections</a:t>
            </a:r>
            <a:r>
              <a:rPr lang="en-US" sz="24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ru-RU" sz="24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en-US" sz="24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ru-RU" sz="2400" dirty="0">
                <a:solidFill>
                  <a:srgbClr val="333333"/>
                </a:solidFill>
                <a:latin typeface="-apple-system"/>
              </a:rPr>
              <a:t>коллекция;</a:t>
            </a:r>
            <a:endParaRPr lang="ru-RU" sz="2400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n-US" sz="2400" b="1" dirty="0">
                <a:solidFill>
                  <a:srgbClr val="333333"/>
                </a:solidFill>
                <a:latin typeface="-apple-system"/>
              </a:rPr>
              <a:t>Q</a:t>
            </a:r>
            <a:r>
              <a:rPr lang="ru-RU" sz="2400" b="1" i="0" dirty="0" err="1">
                <a:solidFill>
                  <a:srgbClr val="333333"/>
                </a:solidFill>
                <a:effectLst/>
                <a:latin typeface="-apple-system"/>
              </a:rPr>
              <a:t>ueue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 — топик или очередь.</a:t>
            </a: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6741559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FC16F-EEFA-495A-A317-03BAB1D7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Виды стрелок диаграммы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711BCB-67CA-4F5C-8324-1095AAB52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79" y="1176399"/>
            <a:ext cx="4032448" cy="22816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5E7D7B-4DAE-4BFF-9937-4C66376DD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1" y="3318031"/>
            <a:ext cx="3733799" cy="306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41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http://baumanki.net/uploads/lectures/informatika-i-programmirovanie/uml/files/12-2-vidy-diagramm-uml.jpg"/>
          <p:cNvPicPr>
            <a:picLocks noGrp="1"/>
          </p:cNvPicPr>
          <p:nvPr>
            <p:ph sz="quarter"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24744"/>
            <a:ext cx="7704855" cy="3960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122672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ttp://baumanki.net/uploads/lectures/informatika-i-programmirovanie/uml/files/13-2-vidy-diagramm-um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3588" y="1340768"/>
            <a:ext cx="7416824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://baumanki.net/uploads/lectures/informatika-i-programmirovanie/uml/files/14-2-vidy-diagramm-uml.jpg"/>
          <p:cNvPicPr/>
          <p:nvPr/>
        </p:nvPicPr>
        <p:blipFill>
          <a:blip r:embed="rId2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1043608" y="764704"/>
            <a:ext cx="6912768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606F73-4497-4C27-9CDC-18EDFB9363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9"/>
          <a:stretch/>
        </p:blipFill>
        <p:spPr>
          <a:xfrm>
            <a:off x="1187624" y="1484784"/>
            <a:ext cx="642512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5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524301-3BA0-40A2-94C7-570C4CD80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80728"/>
            <a:ext cx="6696744" cy="45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726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F44AC-E1F4-44ED-93E3-A901285E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Альтернативный кейс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0B4464-0464-4679-AAC6-4774B68B1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08719"/>
            <a:ext cx="6624736" cy="43734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9B1F07-8837-4084-BF2A-FB84D05AD286}"/>
              </a:ext>
            </a:extLst>
          </p:cNvPr>
          <p:cNvSpPr txBox="1"/>
          <p:nvPr/>
        </p:nvSpPr>
        <p:spPr>
          <a:xfrm>
            <a:off x="453249" y="5404001"/>
            <a:ext cx="7611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Alt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— группировка, 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спользуется чтобы показать альтернативные кейсы для взаимодействия, используется с оператором 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else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Например, объект может отправить запрос, а второй объект, в зависимости от полученных данных, выполнит разные действия.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89688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881E01-C423-48DD-B30C-D6003C6F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Опциональный кейс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48E8CF-8B25-4C24-8663-C9626F73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196752"/>
            <a:ext cx="6179599" cy="4075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D077C9-4F55-4640-9FD0-0164C1BFD37C}"/>
              </a:ext>
            </a:extLst>
          </p:cNvPr>
          <p:cNvSpPr txBox="1"/>
          <p:nvPr/>
        </p:nvSpPr>
        <p:spPr>
          <a:xfrm>
            <a:off x="252998" y="5413865"/>
            <a:ext cx="76718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Opt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— используется для того, чтобы выделить сообщение в опциональный кейс.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Например, объект может отправить запрос, а второй объект, в зависимости от полученных данных, может выполнить дополнительное действие.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51294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C7B6D-643D-4C6D-A1BD-676C7D9BD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dirty="0"/>
              <a:t>Параллельный кейс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18AA7-26D5-45A6-977D-15221D05C70C}"/>
              </a:ext>
            </a:extLst>
          </p:cNvPr>
          <p:cNvSpPr txBox="1"/>
          <p:nvPr/>
        </p:nvSpPr>
        <p:spPr>
          <a:xfrm>
            <a:off x="338572" y="5413664"/>
            <a:ext cx="7704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Par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— используется, чтобы выделить сообщения, которые выполняются параллельно. Используется с оператором 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else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Например, объект может отправить запрос, а второй объект параллельно выполнит внутренние вычисления и вернет ответ первому объекту.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F723C2-CED4-4467-B4FD-667998B7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04" y="1196752"/>
            <a:ext cx="6308701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635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82765-1853-438A-8201-0D313A7A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Кейс цикла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DF4887-2331-4F42-9BCB-1259469AA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68760"/>
            <a:ext cx="6232770" cy="3625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AB8210-A8F0-44F1-AA06-9F6B81CBBD2F}"/>
              </a:ext>
            </a:extLst>
          </p:cNvPr>
          <p:cNvSpPr txBox="1"/>
          <p:nvPr/>
        </p:nvSpPr>
        <p:spPr>
          <a:xfrm>
            <a:off x="457200" y="5229355"/>
            <a:ext cx="7467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Loop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— используется, чтобы выделить сообщения, которые выполняются несколько раз.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Например, объект может отправить запрос, а второй объект выполнит внутренние действия несколько раз в зависимости от отправленных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696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D5425-3DC9-43E2-9046-92E5EC0E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/>
              <a:t>Кейс группировки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587AA-65CB-4020-B1DF-24DF86FC19DE}"/>
              </a:ext>
            </a:extLst>
          </p:cNvPr>
          <p:cNvSpPr txBox="1"/>
          <p:nvPr/>
        </p:nvSpPr>
        <p:spPr>
          <a:xfrm>
            <a:off x="539552" y="5589240"/>
            <a:ext cx="746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Group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— используется, чтобы скомпоновать сообщения по смыслу. Например, на диаграмме может быть много взаимодействий и для того, чтобы было меньше путаницы можно подписать группы сообщений.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2711F5-C6B0-4AD8-84AB-B86638D0F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946450"/>
            <a:ext cx="5671364" cy="457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986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i="1" dirty="0"/>
              <a:t>Диаграмма сотрудничества (кооперации, </a:t>
            </a:r>
            <a:r>
              <a:rPr lang="ru-RU" sz="2800" b="1" i="1" dirty="0" err="1">
                <a:solidFill>
                  <a:schemeClr val="tx1"/>
                </a:solidFill>
              </a:rPr>
              <a:t>collaboration</a:t>
            </a:r>
            <a:r>
              <a:rPr lang="ru-RU" sz="2800" b="1" i="1" dirty="0">
                <a:solidFill>
                  <a:schemeClr val="tx1"/>
                </a:solidFill>
              </a:rPr>
              <a:t> </a:t>
            </a:r>
            <a:r>
              <a:rPr lang="ru-RU" sz="2800" b="1" i="1" dirty="0" err="1">
                <a:solidFill>
                  <a:schemeClr val="tx1"/>
                </a:solidFill>
              </a:rPr>
              <a:t>diagram</a:t>
            </a:r>
            <a:r>
              <a:rPr lang="ru-RU" sz="2800" b="1" i="1" dirty="0"/>
              <a:t>)</a:t>
            </a:r>
            <a:endParaRPr lang="ru-RU" sz="28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844824"/>
            <a:ext cx="8075240" cy="4629128"/>
          </a:xfrm>
        </p:spPr>
        <p:txBody>
          <a:bodyPr>
            <a:normAutofit/>
          </a:bodyPr>
          <a:lstStyle/>
          <a:p>
            <a:pPr algn="just"/>
            <a:r>
              <a:rPr lang="ru-RU" sz="2800" b="1" dirty="0"/>
              <a:t>Диаграмма сотрудничества</a:t>
            </a:r>
            <a:r>
              <a:rPr lang="ru-RU" sz="2800" dirty="0"/>
              <a:t> показывает поток сообщений между объектами системы и основные ассоциации между ними</a:t>
            </a:r>
          </a:p>
          <a:p>
            <a:pPr algn="just"/>
            <a:r>
              <a:rPr lang="ru-RU" sz="2800" dirty="0"/>
              <a:t> Является альтернативой диаграммы последовательностей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08A4775-0BD5-4AA2-84B4-2B7C335565CD}"/>
              </a:ext>
            </a:extLst>
          </p:cNvPr>
          <p:cNvGrpSpPr/>
          <p:nvPr/>
        </p:nvGrpSpPr>
        <p:grpSpPr>
          <a:xfrm>
            <a:off x="1619672" y="1556792"/>
            <a:ext cx="5691042" cy="3528390"/>
            <a:chOff x="1259632" y="2043343"/>
            <a:chExt cx="5691042" cy="352839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030B1201-133D-4942-B49C-680469ACC7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568"/>
            <a:stretch/>
          </p:blipFill>
          <p:spPr>
            <a:xfrm>
              <a:off x="1259632" y="2043343"/>
              <a:ext cx="5691042" cy="3528390"/>
            </a:xfrm>
            <a:prstGeom prst="roundRect">
              <a:avLst>
                <a:gd name="adj" fmla="val 15129"/>
              </a:avLst>
            </a:prstGeom>
          </p:spPr>
        </p:pic>
        <p:cxnSp>
          <p:nvCxnSpPr>
            <p:cNvPr id="3" name="Прямая соединительная линия 2"/>
            <p:cNvCxnSpPr/>
            <p:nvPr/>
          </p:nvCxnSpPr>
          <p:spPr>
            <a:xfrm>
              <a:off x="1619672" y="2492896"/>
              <a:ext cx="1218063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176B3840-A48D-484F-AEFF-50A0E951D824}"/>
                </a:ext>
              </a:extLst>
            </p:cNvPr>
            <p:cNvCxnSpPr>
              <a:cxnSpLocks/>
            </p:cNvCxnSpPr>
            <p:nvPr/>
          </p:nvCxnSpPr>
          <p:spPr>
            <a:xfrm>
              <a:off x="5502031" y="2509166"/>
              <a:ext cx="432048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BAD094C6-3B5E-4989-A9B9-C69D7F4FC861}"/>
                </a:ext>
              </a:extLst>
            </p:cNvPr>
            <p:cNvCxnSpPr/>
            <p:nvPr/>
          </p:nvCxnSpPr>
          <p:spPr>
            <a:xfrm>
              <a:off x="1685606" y="4077072"/>
              <a:ext cx="1218063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72F24CC-B033-4AEA-97D3-E86813847FB5}"/>
                </a:ext>
              </a:extLst>
            </p:cNvPr>
            <p:cNvCxnSpPr>
              <a:cxnSpLocks/>
            </p:cNvCxnSpPr>
            <p:nvPr/>
          </p:nvCxnSpPr>
          <p:spPr>
            <a:xfrm>
              <a:off x="5509926" y="4293096"/>
              <a:ext cx="576064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7ED4D3FD-D62D-4427-B4CF-904095CB62B1}"/>
                </a:ext>
              </a:extLst>
            </p:cNvPr>
            <p:cNvCxnSpPr/>
            <p:nvPr/>
          </p:nvCxnSpPr>
          <p:spPr>
            <a:xfrm>
              <a:off x="4499992" y="5301208"/>
              <a:ext cx="1218063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637959-BDFC-46E2-A00A-6BEEB2569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0728"/>
            <a:ext cx="7273627" cy="399121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cf.ppt-online.org/files/slide/c/cLBJqvwozuS7Nx95Y0DI1GEmUQhnKyjfrsdt8R/slide-9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" t="44689" r="8379" b="8819"/>
          <a:stretch/>
        </p:blipFill>
        <p:spPr bwMode="auto">
          <a:xfrm>
            <a:off x="899592" y="1844824"/>
            <a:ext cx="7128792" cy="2806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8566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/>
          <p:cNvCxnSpPr/>
          <p:nvPr/>
        </p:nvCxnSpPr>
        <p:spPr>
          <a:xfrm>
            <a:off x="1807996" y="8662312"/>
            <a:ext cx="17281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88727D-3D6A-4896-AA7A-EC57D9901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560" y="1196752"/>
            <a:ext cx="7806920" cy="399744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Диаграмма состояний </a:t>
            </a:r>
            <a:br>
              <a:rPr lang="ru-RU" b="1" i="1" dirty="0"/>
            </a:br>
            <a:r>
              <a:rPr lang="ru-RU" b="1" i="1" dirty="0"/>
              <a:t>    (</a:t>
            </a:r>
            <a:r>
              <a:rPr lang="ru-RU" b="1" i="1" dirty="0" err="1">
                <a:solidFill>
                  <a:schemeClr val="tx1"/>
                </a:solidFill>
              </a:rPr>
              <a:t>statechart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b="1" i="1" dirty="0" err="1">
                <a:solidFill>
                  <a:schemeClr val="tx1"/>
                </a:solidFill>
              </a:rPr>
              <a:t>diagram</a:t>
            </a:r>
            <a:r>
              <a:rPr lang="ru-RU" b="1" i="1" dirty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23528" y="2204864"/>
            <a:ext cx="7992888" cy="2880320"/>
          </a:xfrm>
        </p:spPr>
        <p:txBody>
          <a:bodyPr>
            <a:noAutofit/>
          </a:bodyPr>
          <a:lstStyle/>
          <a:p>
            <a:pPr algn="just"/>
            <a:r>
              <a:rPr lang="ru-RU" sz="2800" b="1" dirty="0"/>
              <a:t>Диаграммы состояний</a:t>
            </a:r>
            <a:r>
              <a:rPr lang="ru-RU" sz="2800" dirty="0"/>
              <a:t> применяются для того, чтобы объяснить, каким образом работают сложные объекты. </a:t>
            </a:r>
          </a:p>
          <a:p>
            <a:pPr algn="just"/>
            <a:r>
              <a:rPr lang="ru-RU" sz="2800" dirty="0"/>
              <a:t>Диаграмма состояний показывает, как объект переходит из одного состояния в другое.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449364" y="332656"/>
            <a:ext cx="7812868" cy="2980928"/>
          </a:xfrm>
        </p:spPr>
        <p:txBody>
          <a:bodyPr/>
          <a:lstStyle/>
          <a:p>
            <a:pPr algn="just"/>
            <a:r>
              <a:rPr lang="ru-RU" dirty="0"/>
              <a:t>От других диаграмм диаграмма состояний отличается тем, что описывает процесс изменения состояний только одного экземпляра определенного класса - одного объекта, причем объекта </a:t>
            </a:r>
            <a:r>
              <a:rPr lang="ru-RU" i="1" dirty="0"/>
              <a:t>реактивного</a:t>
            </a:r>
            <a:r>
              <a:rPr lang="ru-RU" dirty="0"/>
              <a:t>, то есть объекта, поведение которого характеризуется его реакцией на внешние события.</a:t>
            </a:r>
          </a:p>
          <a:p>
            <a:endParaRPr lang="ru-RU" dirty="0"/>
          </a:p>
        </p:txBody>
      </p:sp>
      <p:pic>
        <p:nvPicPr>
          <p:cNvPr id="4" name="Содержимое 3" descr="http://baumanki.net/uploads/lectures/informatika-i-programmirovanie/uml/files/18-2-vidy-diagramm-uml.gif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494" y="4221088"/>
            <a:ext cx="5472608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98296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BFA8B2-02B5-476E-871A-4F27CF9E9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616" y="1268760"/>
            <a:ext cx="6408712" cy="39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283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D1B5F04-5393-42E5-BE7F-F36C8D96BC33}"/>
              </a:ext>
            </a:extLst>
          </p:cNvPr>
          <p:cNvGrpSpPr/>
          <p:nvPr/>
        </p:nvGrpSpPr>
        <p:grpSpPr>
          <a:xfrm>
            <a:off x="899592" y="1052736"/>
            <a:ext cx="6912768" cy="3960440"/>
            <a:chOff x="1259632" y="3068960"/>
            <a:chExt cx="5544616" cy="3290021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8E06AF07-676B-4AD7-A684-FDFCD853A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3068960"/>
              <a:ext cx="5400601" cy="3290021"/>
            </a:xfrm>
            <a:prstGeom prst="rect">
              <a:avLst/>
            </a:prstGeom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A0208BE-F02A-460C-94B1-C37AF8F23E3A}"/>
                </a:ext>
              </a:extLst>
            </p:cNvPr>
            <p:cNvSpPr/>
            <p:nvPr/>
          </p:nvSpPr>
          <p:spPr>
            <a:xfrm>
              <a:off x="6012160" y="5877272"/>
              <a:ext cx="792088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://baumanki.net/uploads/lectures/informatika-i-programmirovanie/uml/files/20-2-vidy-diagramm-uml.jpg">
            <a:extLst>
              <a:ext uri="{FF2B5EF4-FFF2-40B4-BE49-F238E27FC236}">
                <a16:creationId xmlns:a16="http://schemas.microsoft.com/office/drawing/2014/main" id="{31398460-B2F3-4BB4-A60B-285AF3A48432}"/>
              </a:ext>
            </a:extLst>
          </p:cNvPr>
          <p:cNvPicPr/>
          <p:nvPr/>
        </p:nvPicPr>
        <p:blipFill>
          <a:blip r:embed="rId2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1979712" y="1916832"/>
            <a:ext cx="4752529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487075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Содержимое 5" descr="http://baumanki.net/uploads/lectures/informatika-i-programmirovanie/uml/files/19-2-vidy-diagramm-uml.jpg"/>
          <p:cNvPicPr>
            <a:picLocks noGrp="1"/>
          </p:cNvPicPr>
          <p:nvPr>
            <p:ph sz="quarter" idx="4294967295"/>
          </p:nvPr>
        </p:nvPicPr>
        <p:blipFill>
          <a:blip r:embed="rId2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1115616" y="1124744"/>
            <a:ext cx="6624736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studfiles.net/html/528/114/html_G9TQXYJM0r.wJaO/img-C1Pox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99649"/>
            <a:ext cx="7344816" cy="441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1976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Диаграмма активности (деятельности, </a:t>
            </a:r>
            <a:r>
              <a:rPr lang="ru-RU" b="1" i="1" dirty="0" err="1">
                <a:solidFill>
                  <a:schemeClr val="tx1"/>
                </a:solidFill>
              </a:rPr>
              <a:t>activity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b="1" i="1" dirty="0" err="1">
                <a:solidFill>
                  <a:schemeClr val="tx1"/>
                </a:solidFill>
              </a:rPr>
              <a:t>diagram</a:t>
            </a:r>
            <a:r>
              <a:rPr lang="ru-RU" b="1" i="1" dirty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4873752"/>
          </a:xfrm>
        </p:spPr>
        <p:txBody>
          <a:bodyPr/>
          <a:lstStyle/>
          <a:p>
            <a:pPr algn="just"/>
            <a:r>
              <a:rPr lang="ru-RU" sz="2800" dirty="0"/>
              <a:t>В UML существуют </a:t>
            </a:r>
            <a:r>
              <a:rPr lang="ru-RU" sz="2800" b="1" dirty="0"/>
              <a:t>диаграммы активности (деятельности)</a:t>
            </a:r>
            <a:r>
              <a:rPr lang="ru-RU" sz="2800" dirty="0"/>
              <a:t>, являющиеся частным случаем диаграмм состояний. </a:t>
            </a:r>
          </a:p>
          <a:p>
            <a:pPr algn="just"/>
            <a:r>
              <a:rPr lang="ru-RU" sz="2800" dirty="0"/>
              <a:t>Диаграммы деятельности удобно применять для визуализации алгоритмов, по которым работают операции классов.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ttp://baumanki.net/uploads/lectures/informatika-i-programmirovanie/uml/files/21-2-vidy-diagramm-uml.jpg"/>
          <p:cNvPicPr/>
          <p:nvPr/>
        </p:nvPicPr>
        <p:blipFill>
          <a:blip r:embed="rId2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2483768" y="836712"/>
            <a:ext cx="4104456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ok-t.ru/studopediaru/baza10/435442169490.files/image04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0648"/>
            <a:ext cx="5112568" cy="64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649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://baumanki.net/uploads/lectures/informatika-i-programmirovanie/uml/files/23-2-vidy-diagramm-um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548680"/>
            <a:ext cx="5688632" cy="604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29608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900igr.net/up/datas/65763/01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29192" r="20230" b="-1"/>
          <a:stretch/>
        </p:blipFill>
        <p:spPr bwMode="auto">
          <a:xfrm>
            <a:off x="1034716" y="404665"/>
            <a:ext cx="6417604" cy="616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9867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Диаграмма развертывания (</a:t>
            </a:r>
            <a:r>
              <a:rPr lang="ru-RU" b="1" i="1" dirty="0" err="1">
                <a:solidFill>
                  <a:schemeClr val="tx1"/>
                </a:solidFill>
              </a:rPr>
              <a:t>deployment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b="1" i="1" dirty="0" err="1">
                <a:solidFill>
                  <a:schemeClr val="tx1"/>
                </a:solidFill>
              </a:rPr>
              <a:t>diagram</a:t>
            </a:r>
            <a:r>
              <a:rPr lang="ru-RU" b="1" i="1" dirty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87208" cy="4873752"/>
          </a:xfrm>
        </p:spPr>
        <p:txBody>
          <a:bodyPr/>
          <a:lstStyle/>
          <a:p>
            <a:pPr algn="just"/>
            <a:r>
              <a:rPr lang="ru-RU" dirty="0"/>
              <a:t>Корпоративные приложения часто требуют для своей работы некоторой </a:t>
            </a:r>
            <a:r>
              <a:rPr lang="ru-RU" i="1" dirty="0" err="1"/>
              <a:t>ИТ-инфраструктуры</a:t>
            </a:r>
            <a:r>
              <a:rPr lang="ru-RU" dirty="0"/>
              <a:t>, хранят информацию в базах данных, расположенных где-то на серверах компании, вызывают </a:t>
            </a:r>
            <a:r>
              <a:rPr lang="ru-RU" dirty="0" err="1"/>
              <a:t>веб-сервисы</a:t>
            </a:r>
            <a:r>
              <a:rPr lang="ru-RU" dirty="0"/>
              <a:t>, используют общие ресурсы и т.д. </a:t>
            </a:r>
          </a:p>
          <a:p>
            <a:pPr algn="just"/>
            <a:r>
              <a:rPr lang="ru-RU" dirty="0"/>
              <a:t>В таких случаях неплохо бы иметь </a:t>
            </a:r>
            <a:r>
              <a:rPr lang="ru-RU" i="1" dirty="0"/>
              <a:t>графическое представление инфраструктуры, на которую будет развернуто приложение</a:t>
            </a:r>
            <a:r>
              <a:rPr lang="ru-RU" dirty="0"/>
              <a:t>. </a:t>
            </a:r>
          </a:p>
          <a:p>
            <a:pPr algn="just"/>
            <a:r>
              <a:rPr lang="ru-RU" dirty="0"/>
              <a:t>Вот для этого-то и нужны </a:t>
            </a:r>
            <a:r>
              <a:rPr lang="ru-RU" b="1" dirty="0"/>
              <a:t>диаграммы развертывания</a:t>
            </a:r>
            <a:r>
              <a:rPr lang="ru-RU" dirty="0"/>
              <a:t>, которые иногда называют диаграммами размещения.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konspekta.net/lektsianew/baza6/595070259066.files/image13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30"/>
          <a:stretch/>
        </p:blipFill>
        <p:spPr bwMode="auto">
          <a:xfrm>
            <a:off x="1115616" y="548680"/>
            <a:ext cx="6078030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5889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konspekta.net/lektsianew/baza6/595070259066.files/image13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11"/>
          <a:stretch/>
        </p:blipFill>
        <p:spPr bwMode="auto">
          <a:xfrm>
            <a:off x="827583" y="644918"/>
            <a:ext cx="7289997" cy="472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641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http://baumanki.net/uploads/lectures/informatika-i-programmirovanie/uml/files/24-2-vidy-diagramm-uml.jpg"/>
          <p:cNvPicPr>
            <a:picLocks noGrp="1"/>
          </p:cNvPicPr>
          <p:nvPr>
            <p:ph sz="quarter"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908720"/>
            <a:ext cx="4896544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://baumanki.net/uploads/lectures/informatika-i-programmirovanie/uml/files/25-2-vidy-diagramm-um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04664"/>
            <a:ext cx="748883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732304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</a:rPr>
              <a:t>Выводы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1412776"/>
            <a:ext cx="8064896" cy="48965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/>
              <a:t>Диаграммы разных видов позволяют взглянуть на систему с разных точек зрения:</a:t>
            </a:r>
          </a:p>
          <a:p>
            <a:pPr marL="0" indent="0" algn="just">
              <a:buNone/>
            </a:pPr>
            <a:endParaRPr lang="ru-RU" sz="1200" dirty="0"/>
          </a:p>
          <a:p>
            <a:pPr algn="just">
              <a:buClr>
                <a:srgbClr val="FF0000"/>
              </a:buClr>
              <a:buSzPct val="90000"/>
              <a:buFont typeface="Wingdings" pitchFamily="2" charset="2"/>
              <a:buChar char="q"/>
            </a:pPr>
            <a:r>
              <a:rPr lang="ru-RU" sz="2800" dirty="0"/>
              <a:t>смоделировать статическую структуру системы</a:t>
            </a:r>
          </a:p>
          <a:p>
            <a:pPr algn="just">
              <a:buClr>
                <a:srgbClr val="FF0000"/>
              </a:buClr>
              <a:buSzPct val="90000"/>
              <a:buFont typeface="Wingdings" pitchFamily="2" charset="2"/>
              <a:buChar char="q"/>
            </a:pPr>
            <a:r>
              <a:rPr lang="ru-RU" sz="2800" dirty="0"/>
              <a:t> рассмотреть поведенческие аспекты системы</a:t>
            </a:r>
          </a:p>
          <a:p>
            <a:pPr algn="just">
              <a:buClr>
                <a:srgbClr val="FF0000"/>
              </a:buClr>
              <a:buSzPct val="90000"/>
              <a:buFont typeface="Wingdings" pitchFamily="2" charset="2"/>
              <a:buChar char="q"/>
            </a:pPr>
            <a:r>
              <a:rPr lang="ru-RU" sz="2800" dirty="0"/>
              <a:t>рассмотреть физические аспекты функционирования системы (особенности реализации)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3038</TotalTime>
  <Words>2442</Words>
  <Application>Microsoft Office PowerPoint</Application>
  <PresentationFormat>Экран (4:3)</PresentationFormat>
  <Paragraphs>292</Paragraphs>
  <Slides>80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80</vt:i4>
      </vt:variant>
    </vt:vector>
  </HeadingPairs>
  <TitlesOfParts>
    <vt:vector size="91" baseType="lpstr">
      <vt:lpstr>-apple-system</vt:lpstr>
      <vt:lpstr>Arial</vt:lpstr>
      <vt:lpstr>Calibri</vt:lpstr>
      <vt:lpstr>Century Schoolbook</vt:lpstr>
      <vt:lpstr>Consolas</vt:lpstr>
      <vt:lpstr>inherit</vt:lpstr>
      <vt:lpstr>Inter</vt:lpstr>
      <vt:lpstr>Open Sans</vt:lpstr>
      <vt:lpstr>Wingdings</vt:lpstr>
      <vt:lpstr>Wingdings 2</vt:lpstr>
      <vt:lpstr>Эркер</vt:lpstr>
      <vt:lpstr>Унифицированный язык моделирования</vt:lpstr>
      <vt:lpstr>Унифицированный язык моделирования (Unified Modeling Language, UML)</vt:lpstr>
      <vt:lpstr>ТИПЫ  ДИАГРАММ</vt:lpstr>
      <vt:lpstr>последовательность построения диаграмм</vt:lpstr>
      <vt:lpstr>Диаграмма прецедентов  (use case diagram)</vt:lpstr>
      <vt:lpstr>Актёр (эктор)</vt:lpstr>
      <vt:lpstr>Прецендент</vt:lpstr>
      <vt:lpstr>Виды отношений</vt:lpstr>
      <vt:lpstr>Выделение групп пользователей</vt:lpstr>
      <vt:lpstr>Каждая из групп пользователей может пользоваться нашей системой по-своему:</vt:lpstr>
      <vt:lpstr>Отношение ассоциации</vt:lpstr>
      <vt:lpstr>Презентация PowerPoint</vt:lpstr>
      <vt:lpstr>Отношение обобщения</vt:lpstr>
      <vt:lpstr>Отношение обобщения</vt:lpstr>
      <vt:lpstr>Презентация PowerPoint</vt:lpstr>
      <vt:lpstr>Отношение включения</vt:lpstr>
      <vt:lpstr>Отношение включения</vt:lpstr>
      <vt:lpstr>Презентация PowerPoint</vt:lpstr>
      <vt:lpstr>Отношение расширения</vt:lpstr>
      <vt:lpstr>Презентация PowerPoint</vt:lpstr>
      <vt:lpstr>цели создания диаграмм прецедентов</vt:lpstr>
      <vt:lpstr>Диаграмма классов (class diagram)</vt:lpstr>
      <vt:lpstr>Презентация PowerPoint</vt:lpstr>
      <vt:lpstr>Презентация PowerPoint</vt:lpstr>
      <vt:lpstr>Виды отношений между классами</vt:lpstr>
      <vt:lpstr>Виды связей</vt:lpstr>
      <vt:lpstr>Наследование</vt:lpstr>
      <vt:lpstr>Реализация - внедрение</vt:lpstr>
      <vt:lpstr>Наследование</vt:lpstr>
      <vt:lpstr>Агрегация</vt:lpstr>
      <vt:lpstr>Композиция</vt:lpstr>
      <vt:lpstr>Агрегация</vt:lpstr>
      <vt:lpstr>Ассоциация</vt:lpstr>
      <vt:lpstr>Ассоциации классов</vt:lpstr>
      <vt:lpstr>Зависимость</vt:lpstr>
      <vt:lpstr>Ассоциация</vt:lpstr>
      <vt:lpstr>Проектирование диаграммы классов</vt:lpstr>
      <vt:lpstr>Презентация PowerPoint</vt:lpstr>
      <vt:lpstr>Диаграмма объектов (object diagram)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последовательностей (sequence diagram)</vt:lpstr>
      <vt:lpstr>Графические элементы диаграммы последовательности</vt:lpstr>
      <vt:lpstr>Типы объектов диаграммы</vt:lpstr>
      <vt:lpstr>Виды стрелок диаграммы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Альтернативный кейс</vt:lpstr>
      <vt:lpstr>Опциональный кейс</vt:lpstr>
      <vt:lpstr>Параллельный кейс</vt:lpstr>
      <vt:lpstr>Кейс цикла</vt:lpstr>
      <vt:lpstr>Кейс группировки</vt:lpstr>
      <vt:lpstr>Диаграмма сотрудничества (кооперации, collaboration diagram)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состояний      (statechart diagram)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активности (деятельности, activity diagram)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развертывания (deployment diagram)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объектно-ориентированного представления программных систем</dc:title>
  <dc:creator>329281</dc:creator>
  <cp:lastModifiedBy>3291922</cp:lastModifiedBy>
  <cp:revision>120</cp:revision>
  <dcterms:created xsi:type="dcterms:W3CDTF">2017-09-12T06:54:19Z</dcterms:created>
  <dcterms:modified xsi:type="dcterms:W3CDTF">2025-02-11T11:38:34Z</dcterms:modified>
</cp:coreProperties>
</file>